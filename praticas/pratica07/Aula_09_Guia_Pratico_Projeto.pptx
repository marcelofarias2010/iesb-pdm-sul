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pa" id="{4bed740d-50fc-0ce7-e5d3-fc07df1bec17}">
          <p14:sldIdLst>
            <p14:sldId id="256"/>
            <p14:sldId id="257"/>
          </p14:sldIdLst>
        </p14:section>
        <p14:section name="Contexto" id="{391492fd-bde0-9040-ed11-334256d1114b}">
          <p14:sldIdLst>
            <p14:sldId id="258"/>
            <p14:sldId id="259"/>
            <p14:sldId id="260"/>
          </p14:sldIdLst>
        </p14:section>
        <p14:section name="Bloco 1" id="{edced5ed-9e41-72c2-0044-cf3c5b398b35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Bloco 2" id="{a549734c-d498-cc58-3d07-007d7e5ad949}">
          <p14:sldIdLst>
            <p14:sldId id="267"/>
            <p14:sldId id="268"/>
            <p14:sldId id="269"/>
          </p14:sldIdLst>
        </p14:section>
        <p14:section name="Bloco 3" id="{d653ddd0-78ae-5ecb-706d-14bf860d7753}">
          <p14:sldIdLst>
            <p14:sldId id="270"/>
            <p14:sldId id="271"/>
            <p14:sldId id="272"/>
            <p14:sldId id="273"/>
            <p14:sldId id="274"/>
          </p14:sldIdLst>
        </p14:section>
        <p14:section name="Bloco 4" id="{e3fb9b35-e7ac-63e0-ba01-ea88ce2c6150}">
          <p14:sldIdLst>
            <p14:sldId id="275"/>
            <p14:sldId id="276"/>
            <p14:sldId id="277"/>
          </p14:sldIdLst>
        </p14:section>
        <p14:section name="Fechamento" id="{f70583d7-78cb-ac1d-ac47-c00663fa268f}">
          <p14:sldIdLst>
            <p14:sldId id="278"/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8C1D9"/>
                </a:solidFill>
              </a:rPr>
              <a:t>PROGRAMAÇÃO PARA DISPOSITIVOS MÓVEIS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6ACE4"/>
                </a:solidFill>
              </a:rPr>
              <a:t>Aula 09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Estado Global, Formulários e UX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4CE"/>
                </a:solidFill>
              </a:rPr>
              <a:t>Guia prático: teoria + passo a passo com código e resultado esperado na tela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8C4CE"/>
                </a:solidFill>
              </a:rPr>
              <a:t>Projeto: navigation-screen (continuação das Aulas 07 e 08)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EF3C7"/>
                </a:solidFill>
              </a:rPr>
              <a:t>Ao final você terá: lista global, criar/editar/excluir, validação, busca e tema claro/escuro.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</a:rPr>
              <a:t>Resultado final desta aula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0292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</a:rPr>
              <a:t>Guarde estas telas — cada bloco do roteiro aponta para uma delas</a:t>
            </a:r>
            <a:endParaRPr lang="en-US" sz="1300" dirty="0"/>
          </a:p>
        </p:txBody>
      </p:sp>
      <p:sp>
        <p:nvSpPr>
          <p:cNvPr id="4" name="f0"/>
          <p:cNvSpPr/>
          <p:nvPr/>
        </p:nvSpPr>
        <p:spPr>
          <a:xfrm>
            <a:off x="320040" y="960120"/>
            <a:ext cx="2834640" cy="5212080"/>
          </a:xfrm>
          <a:prstGeom prst="roundRect">
            <a:avLst>
              <a:gd name="adj" fmla="val 2581"/>
            </a:avLst>
          </a:prstGeom>
          <a:solidFill>
            <a:srgbClr val="F0F4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11480" y="1051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377"/>
                </a:solidFill>
              </a:rPr>
              <a:t>Todas as Despesas</a:t>
            </a:r>
            <a:endParaRPr lang="en-US" sz="1200" dirty="0"/>
          </a:p>
        </p:txBody>
      </p:sp>
      <p:pic>
        <p:nvPicPr>
          <p:cNvPr id="6" name="Image 0" descr="C:\Users\Admin\Downloads\IESB-PDM-SUL\praticas\pratica07\_aula09_imgs\toda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2377440" cy="4572000"/>
          </a:xfrm>
          <a:prstGeom prst="rect">
            <a:avLst/>
          </a:prstGeom>
        </p:spPr>
      </p:pic>
      <p:sp>
        <p:nvSpPr>
          <p:cNvPr id="7" name="f1"/>
          <p:cNvSpPr/>
          <p:nvPr/>
        </p:nvSpPr>
        <p:spPr>
          <a:xfrm>
            <a:off x="3291840" y="960120"/>
            <a:ext cx="2834640" cy="5212080"/>
          </a:xfrm>
          <a:prstGeom prst="roundRect">
            <a:avLst>
              <a:gd name="adj" fmla="val 2581"/>
            </a:avLst>
          </a:prstGeom>
          <a:solidFill>
            <a:srgbClr val="F0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383280" y="1051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377"/>
                </a:solidFill>
              </a:rPr>
              <a:t>Despesas Recentes</a:t>
            </a:r>
            <a:endParaRPr lang="en-US" sz="1200" dirty="0"/>
          </a:p>
        </p:txBody>
      </p:sp>
      <p:pic>
        <p:nvPicPr>
          <p:cNvPr id="9" name="Image 1" descr="C:\Users\Admin\Downloads\IESB-PDM-SUL\praticas\pratica07\_aula09_imgs\recent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20440" y="1417320"/>
            <a:ext cx="2377440" cy="4572000"/>
          </a:xfrm>
          <a:prstGeom prst="rect">
            <a:avLst/>
          </a:prstGeom>
        </p:spPr>
      </p:pic>
      <p:sp>
        <p:nvSpPr>
          <p:cNvPr id="10" name="f2"/>
          <p:cNvSpPr/>
          <p:nvPr/>
        </p:nvSpPr>
        <p:spPr>
          <a:xfrm>
            <a:off x="6263640" y="960120"/>
            <a:ext cx="2834640" cy="5212080"/>
          </a:xfrm>
          <a:prstGeom prst="roundRect">
            <a:avLst>
              <a:gd name="adj" fmla="val 2581"/>
            </a:avLst>
          </a:prstGeom>
          <a:solidFill>
            <a:srgbClr val="F0F4F8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355080" y="1051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377"/>
                </a:solidFill>
              </a:rPr>
              <a:t>Nova despesa</a:t>
            </a:r>
            <a:endParaRPr lang="en-US" sz="1200" dirty="0"/>
          </a:p>
        </p:txBody>
      </p:sp>
      <p:pic>
        <p:nvPicPr>
          <p:cNvPr id="12" name="Image 2" descr="C:\Users\Admin\Downloads\IESB-PDM-SUL\praticas\pratica07\_aula09_imgs\nova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92240" y="1417320"/>
            <a:ext cx="2377440" cy="4572000"/>
          </a:xfrm>
          <a:prstGeom prst="rect">
            <a:avLst/>
          </a:prstGeom>
        </p:spPr>
      </p:pic>
      <p:sp>
        <p:nvSpPr>
          <p:cNvPr id="13" name="f3"/>
          <p:cNvSpPr/>
          <p:nvPr/>
        </p:nvSpPr>
        <p:spPr>
          <a:xfrm>
            <a:off x="9235440" y="960120"/>
            <a:ext cx="2834640" cy="5212080"/>
          </a:xfrm>
          <a:prstGeom prst="roundRect">
            <a:avLst>
              <a:gd name="adj" fmla="val 2581"/>
            </a:avLst>
          </a:prstGeom>
          <a:solidFill>
            <a:srgbClr val="F0F4F8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9326880" y="1051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377"/>
                </a:solidFill>
              </a:rPr>
              <a:t>Editar despesa</a:t>
            </a:r>
            <a:endParaRPr lang="en-US" sz="1200" dirty="0"/>
          </a:p>
        </p:txBody>
      </p:sp>
      <p:pic>
        <p:nvPicPr>
          <p:cNvPr id="15" name="Image 3" descr="C:\Users\Admin\Downloads\IESB-PDM-SUL\praticas\pratica07\_aula09_imgs\editar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464040" y="1417320"/>
            <a:ext cx="2377440" cy="45720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</a:rPr>
              <a:t>Aula 09 · Estado Global, Formulários e UX · Guia prático  ·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</a:rPr>
              <a:t>Onde estamos na disciplina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0292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</a:rPr>
              <a:t>Aulas 01–08 já feitas · hoje: estado global + formulário + UX</a:t>
            </a:r>
            <a:endParaRPr lang="en-US" sz="1300" dirty="0"/>
          </a:p>
        </p:txBody>
      </p:sp>
      <p:sp>
        <p:nvSpPr>
          <p:cNvPr id="4" name="ja"/>
          <p:cNvSpPr/>
          <p:nvPr/>
        </p:nvSpPr>
        <p:spPr>
          <a:xfrm>
            <a:off x="365760" y="1051560"/>
            <a:ext cx="5577840" cy="4846320"/>
          </a:xfrm>
          <a:prstGeom prst="roundRect">
            <a:avLst>
              <a:gd name="adj" fmla="val 1887"/>
            </a:avLst>
          </a:prstGeom>
          <a:solidFill>
            <a:srgbClr val="E6F4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2344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</a:rPr>
              <a:t>O que já temos (07–08)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37360"/>
            <a:ext cx="5212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</a:rPr>
              <a:t>• Stack + Bottom Tabs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</a:rPr>
              <a:t>• Telas Recentes, Todas, Gerenciar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</a:rPr>
              <a:t>• Componentes DespesaItem/Lista/Saída/Sumário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</a:rPr>
              <a:t>• IconButton (+) e DateTimePicker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</a:rPr>
              <a:t>• Listas com dados DUMMY locais</a:t>
            </a:r>
            <a:endParaRPr lang="en-US" sz="1500" dirty="0"/>
          </a:p>
        </p:txBody>
      </p:sp>
      <p:sp>
        <p:nvSpPr>
          <p:cNvPr id="7" name="prob"/>
          <p:cNvSpPr/>
          <p:nvPr/>
        </p:nvSpPr>
        <p:spPr>
          <a:xfrm>
            <a:off x="6217920" y="1051560"/>
            <a:ext cx="5577840" cy="4846320"/>
          </a:xfrm>
          <a:prstGeom prst="roundRect">
            <a:avLst>
              <a:gd name="adj" fmla="val 1887"/>
            </a:avLst>
          </a:prstGeom>
          <a:solidFill>
            <a:srgbClr val="FCEBE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0" y="12344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4536"/>
                </a:solidFill>
              </a:rPr>
              <a:t>Problema de hoje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737360"/>
            <a:ext cx="5212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</a:rPr>
              <a:t>• Cada tela tem sua própria lista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</a:rPr>
              <a:t>• Ao fechar o app, tudo some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</a:rPr>
              <a:t>• Formulário aceita dados inválidos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</a:rPr>
              <a:t>• Não dá para editar nem excluir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</a:rPr>
              <a:t>• Sem busca nem lista vazia amigável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</a:rPr>
              <a:t>Aula 09 · Estado Global, Formulários e UX · Guia prático  ·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</a:rPr>
              <a:t>Objetivos e ordem obrigatória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0292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</a:rPr>
              <a:t>Não inverta os blocos — senão a lista fica vazia e a edição “não funciona”</a:t>
            </a:r>
            <a:endParaRPr lang="en-US" sz="1300" dirty="0"/>
          </a:p>
        </p:txBody>
      </p:sp>
      <p:sp>
        <p:nvSpPr>
          <p:cNvPr id="4" name="bl0"/>
          <p:cNvSpPr/>
          <p:nvPr/>
        </p:nvSpPr>
        <p:spPr>
          <a:xfrm>
            <a:off x="365760" y="1097280"/>
            <a:ext cx="2834640" cy="2194560"/>
          </a:xfrm>
          <a:prstGeom prst="roundRect">
            <a:avLst>
              <a:gd name="adj" fmla="val 4167"/>
            </a:avLst>
          </a:prstGeom>
          <a:solidFill>
            <a:srgbClr val="F0F4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65760" y="1280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7377"/>
                </a:solidFill>
              </a:rPr>
              <a:t>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874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32"/>
                </a:solidFill>
              </a:rPr>
              <a:t>Lista global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377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A7A"/>
                </a:solidFill>
              </a:rPr>
              <a:t>Context + AsyncStorage + botão SALVAR</a:t>
            </a:r>
            <a:endParaRPr lang="en-US" sz="1300" dirty="0"/>
          </a:p>
        </p:txBody>
      </p:sp>
      <p:sp>
        <p:nvSpPr>
          <p:cNvPr id="8" name="bl1"/>
          <p:cNvSpPr/>
          <p:nvPr/>
        </p:nvSpPr>
        <p:spPr>
          <a:xfrm>
            <a:off x="3337560" y="1097280"/>
            <a:ext cx="2834640" cy="2194560"/>
          </a:xfrm>
          <a:prstGeom prst="roundRect">
            <a:avLst>
              <a:gd name="adj" fmla="val 4167"/>
            </a:avLst>
          </a:prstGeom>
          <a:solidFill>
            <a:srgbClr val="F0F4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37560" y="1280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7377"/>
                </a:solidFill>
              </a:rPr>
              <a:t>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874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32"/>
                </a:solidFill>
              </a:rPr>
              <a:t>Criar / Editar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377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A7A"/>
                </a:solidFill>
              </a:rPr>
              <a:t>expenseId na navegação</a:t>
            </a:r>
            <a:endParaRPr lang="en-US" sz="1300" dirty="0"/>
          </a:p>
        </p:txBody>
      </p:sp>
      <p:sp>
        <p:nvSpPr>
          <p:cNvPr id="12" name="bl2"/>
          <p:cNvSpPr/>
          <p:nvPr/>
        </p:nvSpPr>
        <p:spPr>
          <a:xfrm>
            <a:off x="6309360" y="1097280"/>
            <a:ext cx="2834640" cy="2194560"/>
          </a:xfrm>
          <a:prstGeom prst="roundRect">
            <a:avLst>
              <a:gd name="adj" fmla="val 4167"/>
            </a:avLst>
          </a:prstGeom>
          <a:solidFill>
            <a:srgbClr val="F0F4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9360" y="1280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7377"/>
                </a:solidFill>
              </a:rPr>
              <a:t>3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1874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32"/>
                </a:solidFill>
              </a:rPr>
              <a:t>Formulário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377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A7A"/>
                </a:solidFill>
              </a:rPr>
              <a:t>Validar, categoria, Excluir</a:t>
            </a:r>
            <a:endParaRPr lang="en-US" sz="1300" dirty="0"/>
          </a:p>
        </p:txBody>
      </p:sp>
      <p:sp>
        <p:nvSpPr>
          <p:cNvPr id="16" name="bl3"/>
          <p:cNvSpPr/>
          <p:nvPr/>
        </p:nvSpPr>
        <p:spPr>
          <a:xfrm>
            <a:off x="9281160" y="1097280"/>
            <a:ext cx="2834640" cy="2194560"/>
          </a:xfrm>
          <a:prstGeom prst="roundRect">
            <a:avLst>
              <a:gd name="adj" fmla="val 4167"/>
            </a:avLst>
          </a:prstGeom>
          <a:solidFill>
            <a:srgbClr val="F0F4F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81160" y="1280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7377"/>
                </a:solidFill>
              </a:rPr>
              <a:t>4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9418320" y="1874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32"/>
                </a:solidFill>
              </a:rPr>
              <a:t>UX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0" y="2377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A7A"/>
                </a:solidFill>
              </a:rPr>
              <a:t>Busca, vazia, tema, sombra</a:t>
            </a:r>
            <a:endParaRPr lang="en-US" sz="1300" dirty="0"/>
          </a:p>
        </p:txBody>
      </p:sp>
      <p:sp>
        <p:nvSpPr>
          <p:cNvPr id="20" name="arm"/>
          <p:cNvSpPr/>
          <p:nvPr/>
        </p:nvSpPr>
        <p:spPr>
          <a:xfrm>
            <a:off x="365760" y="3657600"/>
            <a:ext cx="11430000" cy="228600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3840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</a:rPr>
              <a:t>Armadilha mais comum da aula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42976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</a:rPr>
              <a:t>1) Remover DUMMY_DESPESAS → lista R$ 0,00 (esperado)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</a:rPr>
              <a:t>2) handleSave existe, mas o Button fica só em comentário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</a:rPr>
              <a:t>3) Sem Salvar na tela → não há item → não dá para editar/excluir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</a:rPr>
              <a:t>Solução neste guia: o botão SALVAR entra no JSX no Bloco 1 (passo obrigatório).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</a:rPr>
              <a:t>Aula 09 · Estado Global, Formulários e UX · Guia prático  ·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</a:rPr>
              <a:t>Preparação: nomes dos campos e glossário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0292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</a:rPr>
              <a:t>Código em inglês · textos da interface em português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65836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37744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Aula 08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Aula 09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Tipo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descricao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description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texto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valor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amount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número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data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date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Date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(novo)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category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texto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id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id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texto (automático)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ode"/>
          <p:cNvSpPr/>
          <p:nvPr/>
        </p:nvSpPr>
        <p:spPr>
          <a:xfrm>
            <a:off x="7223760" y="1005840"/>
            <a:ext cx="4480560" cy="2926080"/>
          </a:xfrm>
          <a:prstGeom prst="roundRect">
            <a:avLst>
              <a:gd name="adj" fmla="val 1875"/>
            </a:avLst>
          </a:prstGeom>
          <a:solidFill>
            <a:srgbClr val="1A233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60920" y="1097280"/>
            <a:ext cx="4206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id: '1712',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description: 'Combustível',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amount: 687.99,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date: new Date(),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category: 'Transporte',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57200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A7A"/>
                </a:solidFill>
              </a:rPr>
              <a:t>Termos: Context (canal) · Provider (transmissor) · useExpenses (hook) · reducer (regras) · dispatch (pedido)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521208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</a:rPr>
              <a:t>Instale a dependência nova na pasta do projeto:</a:t>
            </a:r>
            <a:endParaRPr lang="en-US" sz="1300" dirty="0"/>
          </a:p>
        </p:txBody>
      </p:sp>
      <p:sp>
        <p:nvSpPr>
          <p:cNvPr id="9" name="code"/>
          <p:cNvSpPr/>
          <p:nvPr/>
        </p:nvSpPr>
        <p:spPr>
          <a:xfrm>
            <a:off x="365760" y="5577840"/>
            <a:ext cx="11430000" cy="640080"/>
          </a:xfrm>
          <a:prstGeom prst="roundRect">
            <a:avLst>
              <a:gd name="adj" fmla="val 8571"/>
            </a:avLst>
          </a:prstGeom>
          <a:solidFill>
            <a:srgbClr val="1A233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02920" y="56692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expo install @react-native-async-storage/async-storage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</a:rPr>
              <a:t>Aula 09 · Estado Global, Formulários e UX · Guia prático  ·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8C1D9"/>
                </a:solidFill>
              </a:rPr>
              <a:t>BLOCO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Uma lista para o app todo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383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4CE"/>
                </a:solidFill>
              </a:rPr>
              <a:t>Context API · useReducer · AsyncStorage · botão SALVAR na tela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</a:rPr>
              <a:t>1.1 — Criar o contexto (reducer)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0292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</a:rPr>
              <a:t>Analogia: a cozinha recebe a comanda (action) e devolve um prato novo (array novo)</a:t>
            </a:r>
            <a:endParaRPr lang="en-US" sz="1300" dirty="0"/>
          </a:p>
        </p:txBody>
      </p:sp>
      <p:sp>
        <p:nvSpPr>
          <p:cNvPr id="4" name="b"/>
          <p:cNvSpPr/>
          <p:nvPr/>
        </p:nvSpPr>
        <p:spPr>
          <a:xfrm>
            <a:off x="365760" y="822960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0D737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65760" y="8229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CRIAR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822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store/expenses-context.js</a:t>
            </a:r>
            <a:endParaRPr lang="en-US" sz="1200" dirty="0"/>
          </a:p>
        </p:txBody>
      </p:sp>
      <p:sp>
        <p:nvSpPr>
          <p:cNvPr id="7" name="code"/>
          <p:cNvSpPr/>
          <p:nvPr/>
        </p:nvSpPr>
        <p:spPr>
          <a:xfrm>
            <a:off x="365760" y="1234440"/>
            <a:ext cx="11430000" cy="4846320"/>
          </a:xfrm>
          <a:prstGeom prst="roundRect">
            <a:avLst>
              <a:gd name="adj" fmla="val 1132"/>
            </a:avLst>
          </a:prstGeom>
          <a:solidFill>
            <a:srgbClr val="1A233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1325880"/>
            <a:ext cx="111556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createContext, useContext, useReducer, useEffect, useState } from 'react';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AsyncStorage from '@react-native-async-storage/async-storage';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ExpensesContext = createContext(null);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STORAGE_KEY = '@expenses';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expensesReducer(state, action)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switch (action.type)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'ADD':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[{ ...action.payload, id: Date.now().toString() }, ...state];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'UPDATE':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state.map((item) =&gt;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item.id === action.payload.id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? { ...item, ...action.payload.data }  // merge!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: item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'DELETE':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state.filter((item) =&gt; item.id !== action.payload);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'SET':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action.payload;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state;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</a:rPr>
              <a:t>Aula 09 · Estado Global, Formulários e UX · Guia prático  ·  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</a:rPr>
              <a:t>1.2 — Provider + AsyncStorage + useExpenses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0292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</a:rPr>
              <a:t>No mesmo arquivo. Sem isLoaded, o app grava [] e apaga o que estava salvo.</a:t>
            </a:r>
            <a:endParaRPr lang="en-US" sz="1300" dirty="0"/>
          </a:p>
        </p:txBody>
      </p:sp>
      <p:sp>
        <p:nvSpPr>
          <p:cNvPr id="4" name="b"/>
          <p:cNvSpPr/>
          <p:nvPr/>
        </p:nvSpPr>
        <p:spPr>
          <a:xfrm>
            <a:off x="365760" y="822960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0D737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65760" y="8229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CRIAR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822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store/expenses-context.js (continuação)</a:t>
            </a:r>
            <a:endParaRPr lang="en-US" sz="1200" dirty="0"/>
          </a:p>
        </p:txBody>
      </p:sp>
      <p:sp>
        <p:nvSpPr>
          <p:cNvPr id="7" name="code"/>
          <p:cNvSpPr/>
          <p:nvPr/>
        </p:nvSpPr>
        <p:spPr>
          <a:xfrm>
            <a:off x="365760" y="1188720"/>
            <a:ext cx="11430000" cy="5029200"/>
          </a:xfrm>
          <a:prstGeom prst="roundRect">
            <a:avLst>
              <a:gd name="adj" fmla="val 1091"/>
            </a:avLst>
          </a:prstGeom>
          <a:solidFill>
            <a:srgbClr val="1A233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1280160"/>
            <a:ext cx="111556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ExpensesContextProvider({ children })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[expenses, dispatch] = useReducer(expensesReducer, []);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[isLoaded, setIsLoaded] = useState(false);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addExpense = (data) =&gt; dispatch({ type: 'ADD', payload: data });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updateExpense = (id, data) =&gt;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dispatch({ type: 'UPDATE', payload: { id, data } });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deleteExpense = (id) =&gt; dispatch({ type: 'DELETE', payload: id });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useEffect(()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 function load()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try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const json = await AsyncStorage.getItem(STORAGE_KEY);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(json)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const saved = JSON.parse(json).map((item) =&gt; ({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...item, date: new Date(item.date),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}));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dispatch({ type: 'SET', payload: saved });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 finally { setIsLoaded(true);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load();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 []);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useEffect(()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(!isLoaded) return;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AsyncStorage.setItem(STORAGE_KEY, JSON.stringify(expenses));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 [expenses, isLoaded]);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&lt;ExpensesContext.Provider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value={{ expenses, addExpense, updateExpense, deleteExpense }}&gt;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{children}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&lt;/ExpensesContext.Provider&gt;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useExpenses()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ctx = useContext(ExpensesContext);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(!ctx) throw new Error('Faltou o ExpensesContextProvider');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ctx;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</a:rPr>
              <a:t>Aula 09 · Estado Global, Formulários e UX · Guia prático  ·  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</a:rPr>
              <a:t>1.3 — Envolver o App e ligar as telas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0292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</a:rPr>
              <a:t>Remova DUMMY_DESPESAS. A lista fica vazia até o passo do Salvar — isso é normal.</a:t>
            </a:r>
            <a:endParaRPr lang="en-US" sz="1300" dirty="0"/>
          </a:p>
        </p:txBody>
      </p:sp>
      <p:sp>
        <p:nvSpPr>
          <p:cNvPr id="4" name="b"/>
          <p:cNvSpPr/>
          <p:nvPr/>
        </p:nvSpPr>
        <p:spPr>
          <a:xfrm>
            <a:off x="365760" y="822960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C4453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65760" y="8229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ALTERAR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822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  ·  TodasDespesas.js  ·  DespesasRecentes.js</a:t>
            </a:r>
            <a:endParaRPr lang="en-US" sz="1200" dirty="0"/>
          </a:p>
        </p:txBody>
      </p:sp>
      <p:sp>
        <p:nvSpPr>
          <p:cNvPr id="7" name="code"/>
          <p:cNvSpPr/>
          <p:nvPr/>
        </p:nvSpPr>
        <p:spPr>
          <a:xfrm>
            <a:off x="365760" y="1234440"/>
            <a:ext cx="6675120" cy="4754880"/>
          </a:xfrm>
          <a:prstGeom prst="roundRect">
            <a:avLst>
              <a:gd name="adj" fmla="val 1154"/>
            </a:avLst>
          </a:prstGeom>
          <a:solidFill>
            <a:srgbClr val="1A233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1325880"/>
            <a:ext cx="6400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ExpensesContextProvider } from './store/expenses-context';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&lt;ExpensesContextProvider&gt;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&lt;NavigationContainer&gt;...&lt;/NavigationContainer&gt;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&lt;/ExpensesContextProvider&gt;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TodasDespesas.js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expenses } = useExpenses();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&lt;DespesaSaida despesas={expenses} periodo="Total" /&gt;;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DespesasRecentes.js — filtre últimos 7 dias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expenses } = useExpenses();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recent = expenses.filter(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(e) =&gt; e.date &gt;= sevenDaysAgo &amp;&amp; e.date &lt;= today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&lt;DespesaSaida despesas={recent} periodo="Últimos 7 dias" /&gt;;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DespesaItem / DespesaSumario: description, amount, date</a:t>
            </a:r>
            <a:endParaRPr lang="en-US" sz="1100" dirty="0"/>
          </a:p>
        </p:txBody>
      </p:sp>
      <p:sp>
        <p:nvSpPr>
          <p:cNvPr id="9" name="vazio"/>
          <p:cNvSpPr/>
          <p:nvPr/>
        </p:nvSpPr>
        <p:spPr>
          <a:xfrm>
            <a:off x="7223760" y="1234440"/>
            <a:ext cx="4572000" cy="4754880"/>
          </a:xfrm>
          <a:prstGeom prst="roundRect">
            <a:avLst>
              <a:gd name="adj" fmla="val 1600"/>
            </a:avLst>
          </a:prstGeom>
          <a:solidFill>
            <a:srgbClr val="FEF3C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06640" y="1417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Tela neste momento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1920240"/>
            <a:ext cx="4206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</a:rPr>
              <a:t>Total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</a:rPr>
              <a:t>R$ 0,00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</a:rPr>
              <a:t>Lista vazia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</a:rPr>
              <a:t>→ Continue no passo 1.4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</a:rPr>
              <a:t>(botão Salvar). Sem ele,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</a:rPr>
              <a:t>não há o que editar depois.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</a:rPr>
              <a:t>Aula 09 · Estado Global, Formulários e UX · Guia prático  ·  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</a:rPr>
              <a:t>1.4 — OBRIGATÓRIO: botão SALVAR no JSX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0292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</a:rPr>
              <a:t>Não deixe em comentário. Sem este passo, o restante da aula trava.</a:t>
            </a:r>
            <a:endParaRPr lang="en-US" sz="1300" dirty="0"/>
          </a:p>
        </p:txBody>
      </p:sp>
      <p:sp>
        <p:nvSpPr>
          <p:cNvPr id="4" name="b"/>
          <p:cNvSpPr/>
          <p:nvPr/>
        </p:nvSpPr>
        <p:spPr>
          <a:xfrm>
            <a:off x="365760" y="822960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C4453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65760" y="8229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ALTERAR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822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screens/GerenciarDespesa.js</a:t>
            </a:r>
            <a:endParaRPr lang="en-US" sz="1200" dirty="0"/>
          </a:p>
        </p:txBody>
      </p:sp>
      <p:sp>
        <p:nvSpPr>
          <p:cNvPr id="7" name="code"/>
          <p:cNvSpPr/>
          <p:nvPr/>
        </p:nvSpPr>
        <p:spPr>
          <a:xfrm>
            <a:off x="365760" y="1188720"/>
            <a:ext cx="6766560" cy="4206240"/>
          </a:xfrm>
          <a:prstGeom prst="roundRect">
            <a:avLst>
              <a:gd name="adj" fmla="val 1304"/>
            </a:avLst>
          </a:prstGeom>
          <a:solidFill>
            <a:srgbClr val="1A233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128016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Button } from 'react-native';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useExpenses } from '../store/expenses-context';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GerenciarDespesas({ navigation })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addExpense } = useExpenses();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useState description/amount/date da Aula 08...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 handleSave()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addExpense({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description: descricao,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amount: parseFloat(valor),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date: data,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category: 'Outros',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navigation.goBack();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style={styles.container}&gt;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{/* TextInputs */}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&lt;Button title="Salvar" onPress={handleSave} /&gt;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&lt;/View&gt;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rb"/>
          <p:cNvSpPr/>
          <p:nvPr/>
        </p:nvSpPr>
        <p:spPr>
          <a:xfrm>
            <a:off x="7315200" y="1188720"/>
            <a:ext cx="4572000" cy="4206240"/>
          </a:xfrm>
          <a:prstGeom prst="roundRect">
            <a:avLst>
              <a:gd name="adj" fmla="val 1739"/>
            </a:avLst>
          </a:prstGeom>
          <a:solidFill>
            <a:srgbClr val="EEF6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52360" y="126187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</a:rPr>
              <a:t>Resultado esperado: Nova despesa + Salvar</a:t>
            </a:r>
            <a:endParaRPr lang="en-US" sz="1100" dirty="0"/>
          </a:p>
        </p:txBody>
      </p:sp>
      <p:pic>
        <p:nvPicPr>
          <p:cNvPr id="11" name="Image 0" descr="C:\Users\Admin\Downloads\IESB-PDM-SUL\praticas\pratica07\_aula09_imgs\nov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35240" y="1554480"/>
            <a:ext cx="3931920" cy="3703320"/>
          </a:xfrm>
          <a:prstGeom prst="rect">
            <a:avLst/>
          </a:prstGeom>
        </p:spPr>
      </p:pic>
      <p:sp>
        <p:nvSpPr>
          <p:cNvPr id="12" name="ck"/>
          <p:cNvSpPr/>
          <p:nvPr/>
        </p:nvSpPr>
        <p:spPr>
          <a:xfrm>
            <a:off x="365760" y="5623560"/>
            <a:ext cx="11430000" cy="731520"/>
          </a:xfrm>
          <a:prstGeom prst="roundRect">
            <a:avLst>
              <a:gd name="adj" fmla="val 7500"/>
            </a:avLst>
          </a:prstGeom>
          <a:solidFill>
            <a:srgbClr val="D1FAE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2920" y="5696712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</a:rPr>
              <a:t>CHECKPOINT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59436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</a:rPr>
              <a:t>Criei 1 despesa pelo + → ela aparece em Todas. Fechei e reabri o app → continua lá.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</a:rPr>
              <a:t>Aula 09 · Estado Global, Formulários e UX · Guia prático  ·  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</a:rPr>
              <a:t>1.5 — Resultado do Bloco 1 na lista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0292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</a:rPr>
              <a:t>Com despesas salvas, Todas e Recentes devem se parecer com estes prints</a:t>
            </a:r>
            <a:endParaRPr lang="en-US" sz="1300" dirty="0"/>
          </a:p>
        </p:txBody>
      </p:sp>
      <p:sp>
        <p:nvSpPr>
          <p:cNvPr id="4" name="rb"/>
          <p:cNvSpPr/>
          <p:nvPr/>
        </p:nvSpPr>
        <p:spPr>
          <a:xfrm>
            <a:off x="365760" y="960120"/>
            <a:ext cx="5669280" cy="5212080"/>
          </a:xfrm>
          <a:prstGeom prst="roundRect">
            <a:avLst>
              <a:gd name="adj" fmla="val 1404"/>
            </a:avLst>
          </a:prstGeom>
          <a:solidFill>
            <a:srgbClr val="EEF6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03327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</a:rPr>
              <a:t>Todas as Despesas</a:t>
            </a:r>
            <a:endParaRPr lang="en-US" sz="1100" dirty="0"/>
          </a:p>
        </p:txBody>
      </p:sp>
      <p:pic>
        <p:nvPicPr>
          <p:cNvPr id="6" name="Image 0" descr="C:\Users\Admin\Downloads\IESB-PDM-SUL\praticas\pratica07\_aula09_imgs\toda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325880"/>
            <a:ext cx="5029200" cy="4709160"/>
          </a:xfrm>
          <a:prstGeom prst="rect">
            <a:avLst/>
          </a:prstGeom>
        </p:spPr>
      </p:pic>
      <p:sp>
        <p:nvSpPr>
          <p:cNvPr id="7" name="rb"/>
          <p:cNvSpPr/>
          <p:nvPr/>
        </p:nvSpPr>
        <p:spPr>
          <a:xfrm>
            <a:off x="6309360" y="960120"/>
            <a:ext cx="5669280" cy="5212080"/>
          </a:xfrm>
          <a:prstGeom prst="roundRect">
            <a:avLst>
              <a:gd name="adj" fmla="val 1404"/>
            </a:avLst>
          </a:prstGeom>
          <a:solidFill>
            <a:srgbClr val="EEF6F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46520" y="103327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</a:rPr>
              <a:t>Despesas Recentes (últimos 7 dias)</a:t>
            </a:r>
            <a:endParaRPr lang="en-US" sz="1100" dirty="0"/>
          </a:p>
        </p:txBody>
      </p:sp>
      <p:pic>
        <p:nvPicPr>
          <p:cNvPr id="9" name="Image 1" descr="C:\Users\Admin\Downloads\IESB-PDM-SUL\praticas\pratica07\_aula09_imgs\recent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29400" y="1325880"/>
            <a:ext cx="5029200" cy="47091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</a:rPr>
              <a:t>Aula 09 · Estado Global, Formulários e UX · Guia prático  ·  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8C1D9"/>
                </a:solidFill>
              </a:rPr>
              <a:t>BLOCO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Criar e editar na mesma tela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383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EF3C7"/>
                </a:solidFill>
              </a:rPr>
              <a:t>Só avance se o CHECKPOINT do Bloco 1 estiver completo (há itens na lista).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</a:rPr>
              <a:t>2.1 — Toque no item abre edição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0292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</a:rPr>
              <a:t>O nome do parâmetro deve ser expenseId nos dois lados</a:t>
            </a:r>
            <a:endParaRPr lang="en-US" sz="1300" dirty="0"/>
          </a:p>
        </p:txBody>
      </p:sp>
      <p:sp>
        <p:nvSpPr>
          <p:cNvPr id="4" name="b"/>
          <p:cNvSpPr/>
          <p:nvPr/>
        </p:nvSpPr>
        <p:spPr>
          <a:xfrm>
            <a:off x="365760" y="822960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C4453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65760" y="8229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ALTERAR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822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components/despesa/DespesaItem.js  e  DespesaLista.js</a:t>
            </a:r>
            <a:endParaRPr lang="en-US" sz="1200" dirty="0"/>
          </a:p>
        </p:txBody>
      </p:sp>
      <p:sp>
        <p:nvSpPr>
          <p:cNvPr id="7" name="code"/>
          <p:cNvSpPr/>
          <p:nvPr/>
        </p:nvSpPr>
        <p:spPr>
          <a:xfrm>
            <a:off x="365760" y="1188720"/>
            <a:ext cx="6766560" cy="4846320"/>
          </a:xfrm>
          <a:prstGeom prst="roundRect">
            <a:avLst>
              <a:gd name="adj" fmla="val 1132"/>
            </a:avLst>
          </a:prstGeom>
          <a:solidFill>
            <a:srgbClr val="1A233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1280160"/>
            <a:ext cx="64922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DespesaItem.js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useNavigation } from '@react-navigation/native';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DespesaItem({ item })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navigation = useNavigation();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 handlePress()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navigation.navigate('GerenciarDespesa', { expenseId: item.id 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&lt;Pressable onPress={handlePress}&gt;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&lt;Text&gt;{/* date / description / amount */}&lt;/Text&gt;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&lt;/Pressable&gt;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DespesaLista.js — IMPORTANTE (hooks no item):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ERRADO:  renderItem={DespesaItem}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CERTO: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&lt;FlatList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data={despesas}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renderItem={({ item }) =&gt; &lt;DespesaItem item={item} /&gt;}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keyExtractor={(item) =&gt; item.id}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100" dirty="0"/>
          </a:p>
        </p:txBody>
      </p:sp>
      <p:sp>
        <p:nvSpPr>
          <p:cNvPr id="9" name="hook"/>
          <p:cNvSpPr/>
          <p:nvPr/>
        </p:nvSpPr>
        <p:spPr>
          <a:xfrm>
            <a:off x="7315200" y="1188720"/>
            <a:ext cx="4572000" cy="4846320"/>
          </a:xfrm>
          <a:prstGeom prst="roundRect">
            <a:avLst>
              <a:gd name="adj" fmla="val 1600"/>
            </a:avLst>
          </a:prstGeom>
          <a:solidFill>
            <a:srgbClr val="FCEBE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98080" y="1371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4536"/>
                </a:solidFill>
              </a:rPr>
              <a:t>Erro “Invalid hook call”?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1920240"/>
            <a:ext cx="4206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</a:rPr>
              <a:t>Se usar renderItem={DespesaItem}, o FlatList chama a função direto e useNavigation quebra.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</a:rPr>
              <a:t>Sempre renderize como JSX: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</a:rPr>
              <a:t>renderItem={({ item }) =&gt;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</a:rPr>
              <a:t>  &lt;DespesaItem item={item} /&gt;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</a:rPr>
              <a:t>}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</a:rPr>
              <a:t>Aula 09 · Estado Global, Formulários e UX · Guia prático  ·  11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</a:rPr>
              <a:t>2.2 — Detectar modo e salvar com update</a:t>
            </a:r>
            <a:endParaRPr lang="en-US" sz="2400" dirty="0"/>
          </a:p>
        </p:txBody>
      </p:sp>
      <p:sp>
        <p:nvSpPr>
          <p:cNvPr id="3" name="b"/>
          <p:cNvSpPr/>
          <p:nvPr/>
        </p:nvSpPr>
        <p:spPr>
          <a:xfrm>
            <a:off x="365760" y="822960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C4453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8229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ALTERAR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822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screens/GerenciarDespesa.js</a:t>
            </a:r>
            <a:endParaRPr lang="en-US" sz="1200" dirty="0"/>
          </a:p>
        </p:txBody>
      </p:sp>
      <p:sp>
        <p:nvSpPr>
          <p:cNvPr id="6" name="code"/>
          <p:cNvSpPr/>
          <p:nvPr/>
        </p:nvSpPr>
        <p:spPr>
          <a:xfrm>
            <a:off x="365760" y="1188720"/>
            <a:ext cx="6766560" cy="4114800"/>
          </a:xfrm>
          <a:prstGeom prst="roundRect">
            <a:avLst>
              <a:gd name="adj" fmla="val 1333"/>
            </a:avLst>
          </a:prstGeom>
          <a:solidFill>
            <a:srgbClr val="1A233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1280160"/>
            <a:ext cx="6492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expenseId = route.params?.expenseId;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isEditing = !!expenseId;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expenses, addExpense, updateExpense, deleteExpense } = useExpenses();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selected = expenses.find((e) =&gt; e.id === expenseId);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useLayoutEffect(()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navigation.setOptions({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title: isEditing ? 'Editar despesa' : 'Nova despesa',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[navigation, isEditing]);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handleSave()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data = { description, amount: parseFloat(valor), date, category };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(isEditing) updateExpense(expenseId, data);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addExpense(data);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navigation.goBack();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rb"/>
          <p:cNvSpPr/>
          <p:nvPr/>
        </p:nvSpPr>
        <p:spPr>
          <a:xfrm>
            <a:off x="7315200" y="1188720"/>
            <a:ext cx="4572000" cy="4114800"/>
          </a:xfrm>
          <a:prstGeom prst="roundRect">
            <a:avLst>
              <a:gd name="adj" fmla="val 1778"/>
            </a:avLst>
          </a:prstGeom>
          <a:solidFill>
            <a:srgbClr val="EEF6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52360" y="126187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</a:rPr>
              <a:t>Resultado: Editar despesa preenchida</a:t>
            </a:r>
            <a:endParaRPr lang="en-US" sz="1100" dirty="0"/>
          </a:p>
        </p:txBody>
      </p:sp>
      <p:pic>
        <p:nvPicPr>
          <p:cNvPr id="10" name="Image 0" descr="C:\Users\Admin\Downloads\IESB-PDM-SUL\praticas\pratica07\_aula09_imgs\edit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35240" y="1554480"/>
            <a:ext cx="3931920" cy="3611880"/>
          </a:xfrm>
          <a:prstGeom prst="rect">
            <a:avLst/>
          </a:prstGeom>
        </p:spPr>
      </p:pic>
      <p:sp>
        <p:nvSpPr>
          <p:cNvPr id="11" name="ck"/>
          <p:cNvSpPr/>
          <p:nvPr/>
        </p:nvSpPr>
        <p:spPr>
          <a:xfrm>
            <a:off x="365760" y="5623560"/>
            <a:ext cx="11430000" cy="731520"/>
          </a:xfrm>
          <a:prstGeom prst="roundRect">
            <a:avLst>
              <a:gd name="adj" fmla="val 7500"/>
            </a:avLst>
          </a:prstGeom>
          <a:solidFill>
            <a:srgbClr val="D1FAE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02920" y="5696712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</a:rPr>
              <a:t>CHECKPOINT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59436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</a:rPr>
              <a:t>Toquei num item → título “Editar despesa” e campos preenchidos. Salvei → lista atualizou (sem duplicar).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</a:rPr>
              <a:t>Aula 09 · Estado Global, Formulários e UX · Guia prático  ·  12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8C1D9"/>
                </a:solidFill>
              </a:rPr>
              <a:t>BLOCO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Formulário que não aceita erro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383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4CE"/>
                </a:solidFill>
              </a:rPr>
              <a:t>form · validate · erros · Modal · Alert · KeyboardAvoidingView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</a:rPr>
              <a:t>3.1 — Anatomia do formulário (alvo visual)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0292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</a:rPr>
              <a:t>O botão Salvar já existe desde o Bloco 1 — aqui ele chama handleSubmit</a:t>
            </a:r>
            <a:endParaRPr lang="en-US" sz="1300" dirty="0"/>
          </a:p>
        </p:txBody>
      </p:sp>
      <p:sp>
        <p:nvSpPr>
          <p:cNvPr id="4" name="an0"/>
          <p:cNvSpPr/>
          <p:nvPr/>
        </p:nvSpPr>
        <p:spPr>
          <a:xfrm>
            <a:off x="365760" y="960120"/>
            <a:ext cx="6858000" cy="594360"/>
          </a:xfrm>
          <a:prstGeom prst="roundRect">
            <a:avLst>
              <a:gd name="adj" fmla="val 9231"/>
            </a:avLst>
          </a:prstGeom>
          <a:solidFill>
            <a:srgbClr val="F0F4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96012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</a:rPr>
              <a:t>1. Estado em um objeto form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3444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</a:rPr>
              <a:t>Um handleChange para todos os campos</a:t>
            </a:r>
            <a:endParaRPr lang="en-US" sz="1200" dirty="0"/>
          </a:p>
        </p:txBody>
      </p:sp>
      <p:sp>
        <p:nvSpPr>
          <p:cNvPr id="7" name="an1"/>
          <p:cNvSpPr/>
          <p:nvPr/>
        </p:nvSpPr>
        <p:spPr>
          <a:xfrm>
            <a:off x="365760" y="1645920"/>
            <a:ext cx="6858000" cy="594360"/>
          </a:xfrm>
          <a:prstGeom prst="roundRect">
            <a:avLst>
              <a:gd name="adj" fmla="val 9231"/>
            </a:avLst>
          </a:prstGeom>
          <a:solidFill>
            <a:srgbClr val="F0F4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64592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</a:rPr>
              <a:t>2. Validação com mensagem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92024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</a:rPr>
              <a:t>Borda vermelha + texto de correção</a:t>
            </a:r>
            <a:endParaRPr lang="en-US" sz="1200" dirty="0"/>
          </a:p>
        </p:txBody>
      </p:sp>
      <p:sp>
        <p:nvSpPr>
          <p:cNvPr id="10" name="an2"/>
          <p:cNvSpPr/>
          <p:nvPr/>
        </p:nvSpPr>
        <p:spPr>
          <a:xfrm>
            <a:off x="365760" y="2331720"/>
            <a:ext cx="6858000" cy="594360"/>
          </a:xfrm>
          <a:prstGeom prst="roundRect">
            <a:avLst>
              <a:gd name="adj" fmla="val 9231"/>
            </a:avLst>
          </a:prstGeom>
          <a:solidFill>
            <a:srgbClr val="F0F4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3172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</a:rPr>
              <a:t>3. Teclado adequado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60604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</a:rPr>
              <a:t>KeyboardAvoidingView + ScrollView</a:t>
            </a:r>
            <a:endParaRPr lang="en-US" sz="1200" dirty="0"/>
          </a:p>
        </p:txBody>
      </p:sp>
      <p:sp>
        <p:nvSpPr>
          <p:cNvPr id="13" name="an3"/>
          <p:cNvSpPr/>
          <p:nvPr/>
        </p:nvSpPr>
        <p:spPr>
          <a:xfrm>
            <a:off x="365760" y="3017520"/>
            <a:ext cx="6858000" cy="594360"/>
          </a:xfrm>
          <a:prstGeom prst="roundRect">
            <a:avLst>
              <a:gd name="adj" fmla="val 9231"/>
            </a:avLst>
          </a:prstGeom>
          <a:solidFill>
            <a:srgbClr val="F0F4F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01752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</a:rPr>
              <a:t>4. Categoria em Modal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29184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</a:rPr>
              <a:t>Usuário escolhe; não digita</a:t>
            </a:r>
            <a:endParaRPr lang="en-US" sz="1200" dirty="0"/>
          </a:p>
        </p:txBody>
      </p:sp>
      <p:sp>
        <p:nvSpPr>
          <p:cNvPr id="16" name="an4"/>
          <p:cNvSpPr/>
          <p:nvPr/>
        </p:nvSpPr>
        <p:spPr>
          <a:xfrm>
            <a:off x="365760" y="3703320"/>
            <a:ext cx="6858000" cy="594360"/>
          </a:xfrm>
          <a:prstGeom prst="roundRect">
            <a:avLst>
              <a:gd name="adj" fmla="val 9231"/>
            </a:avLst>
          </a:prstGeom>
          <a:solidFill>
            <a:srgbClr val="F0F4F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70332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</a:rPr>
              <a:t>5. SALVAR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97764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</a:rPr>
              <a:t>onPress={handleSubmit}</a:t>
            </a:r>
            <a:endParaRPr lang="en-US" sz="1200" dirty="0"/>
          </a:p>
        </p:txBody>
      </p:sp>
      <p:sp>
        <p:nvSpPr>
          <p:cNvPr id="19" name="an5"/>
          <p:cNvSpPr/>
          <p:nvPr/>
        </p:nvSpPr>
        <p:spPr>
          <a:xfrm>
            <a:off x="365760" y="4389120"/>
            <a:ext cx="6858000" cy="594360"/>
          </a:xfrm>
          <a:prstGeom prst="roundRect">
            <a:avLst>
              <a:gd name="adj" fmla="val 9231"/>
            </a:avLst>
          </a:prstGeom>
          <a:solidFill>
            <a:srgbClr val="F0F4F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38912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</a:rPr>
              <a:t>6. EXCLUIR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66344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</a:rPr>
              <a:t>Só se isEditing; com Alert</a:t>
            </a:r>
            <a:endParaRPr lang="en-US" sz="1200" dirty="0"/>
          </a:p>
        </p:txBody>
      </p:sp>
      <p:sp>
        <p:nvSpPr>
          <p:cNvPr id="22" name="rb"/>
          <p:cNvSpPr/>
          <p:nvPr/>
        </p:nvSpPr>
        <p:spPr>
          <a:xfrm>
            <a:off x="7406640" y="960120"/>
            <a:ext cx="4572000" cy="5029200"/>
          </a:xfrm>
          <a:prstGeom prst="roundRect">
            <a:avLst>
              <a:gd name="adj" fmla="val 1600"/>
            </a:avLst>
          </a:prstGeom>
          <a:solidFill>
            <a:srgbClr val="EEF6F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543800" y="103327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</a:rPr>
              <a:t>Editar = Salvar + Excluir</a:t>
            </a:r>
            <a:endParaRPr lang="en-US" sz="1100" dirty="0"/>
          </a:p>
        </p:txBody>
      </p:sp>
      <p:pic>
        <p:nvPicPr>
          <p:cNvPr id="24" name="Image 0" descr="C:\Users\Admin\Downloads\IESB-PDM-SUL\praticas\pratica07\_aula09_imgs\edit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26680" y="1325880"/>
            <a:ext cx="3931920" cy="452628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</a:rPr>
              <a:t>Aula 09 · Estado Global, Formulários e UX · Guia prático  ·  13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</a:rPr>
              <a:t>3.2 — Objeto form + validate + handleSubmit</a:t>
            </a:r>
            <a:endParaRPr lang="en-US" sz="2400" dirty="0"/>
          </a:p>
        </p:txBody>
      </p:sp>
      <p:sp>
        <p:nvSpPr>
          <p:cNvPr id="3" name="b"/>
          <p:cNvSpPr/>
          <p:nvPr/>
        </p:nvSpPr>
        <p:spPr>
          <a:xfrm>
            <a:off x="365760" y="822960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C4453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8229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ALTERAR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822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screens/GerenciarDespesa.js</a:t>
            </a:r>
            <a:endParaRPr lang="en-US" sz="1200" dirty="0"/>
          </a:p>
        </p:txBody>
      </p:sp>
      <p:sp>
        <p:nvSpPr>
          <p:cNvPr id="6" name="code"/>
          <p:cNvSpPr/>
          <p:nvPr/>
        </p:nvSpPr>
        <p:spPr>
          <a:xfrm>
            <a:off x="365760" y="1143000"/>
            <a:ext cx="11430000" cy="5029200"/>
          </a:xfrm>
          <a:prstGeom prst="roundRect">
            <a:avLst>
              <a:gd name="adj" fmla="val 1091"/>
            </a:avLst>
          </a:prstGeom>
          <a:solidFill>
            <a:srgbClr val="1A233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1234440"/>
            <a:ext cx="111556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[form, setForm] = useState({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description: selected?.description ?? '',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amount: selected ? String(selected.amount) : '',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date: selected?.date ?? new Date(),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category: selected?.category ?? '',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[errors, setErrors] = useState({});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handleChange(field, value)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setForm((c) =&gt; ({ ...c, [field]: value }));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setErrors((c) =&gt; ({ ...c, [field]: undefined }));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validate(values)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errors = {};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amount = Number(String(values.amount).replace(',', '.'));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(values.description.trim().length &lt; 3)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errors.description = 'Mínimo de 3 caracteres';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(isNaN(amount) || amount &lt;= 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errors.amount = 'Informe um valor maior que zero';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(values.date &gt; new Date())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errors.date = 'A data não pode ser futura';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(!values.category)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errors.category = 'Escolha uma categoria';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errors;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handleSubmit()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found = validate(form);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setErrors(found);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(Object.keys(found).length &gt; 0) return;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amount = Number(String(form.amount).replace(',', '.'));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data = { ...form, amount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(isEditing) updateExpense(expenseId, data);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addExpense(data);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navigation.goBack();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title="Salvar" onPress={handleSubmit} /&gt;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</a:rPr>
              <a:t>Aula 09 · Estado Global, Formulários e UX · Guia prático  ·  14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</a:rPr>
              <a:t>3.3 — Erros na UI, Modal, teclado e Excluir</a:t>
            </a:r>
            <a:endParaRPr lang="en-US" sz="2400" dirty="0"/>
          </a:p>
        </p:txBody>
      </p:sp>
      <p:sp>
        <p:nvSpPr>
          <p:cNvPr id="3" name="b"/>
          <p:cNvSpPr/>
          <p:nvPr/>
        </p:nvSpPr>
        <p:spPr>
          <a:xfrm>
            <a:off x="365760" y="822960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C4453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8229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ALTERAR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822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screens/GerenciarDespesa.js</a:t>
            </a:r>
            <a:endParaRPr lang="en-US" sz="1200" dirty="0"/>
          </a:p>
        </p:txBody>
      </p:sp>
      <p:sp>
        <p:nvSpPr>
          <p:cNvPr id="6" name="code"/>
          <p:cNvSpPr/>
          <p:nvPr/>
        </p:nvSpPr>
        <p:spPr>
          <a:xfrm>
            <a:off x="365760" y="1143000"/>
            <a:ext cx="11430000" cy="5029200"/>
          </a:xfrm>
          <a:prstGeom prst="roundRect">
            <a:avLst>
              <a:gd name="adj" fmla="val 1091"/>
            </a:avLst>
          </a:prstGeom>
          <a:solidFill>
            <a:srgbClr val="1A233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1234440"/>
            <a:ext cx="111556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Erro visual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&lt;TextInput style={[styles.input, errors.amount &amp;&amp; styles.inputError]} ... /&gt;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{!!errors.amount &amp;&amp; &lt;Text style={styles.errorText}&gt;{errors.amount}&lt;/Text&gt;}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Teclado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&lt;KeyboardAvoidingView behavior={Platform.OS === 'ios' ? 'padding' : 'height'}&gt;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&lt;ScrollView keyboardShouldPersistTaps="handled"&gt;...&lt;/ScrollView&gt;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&lt;/KeyboardAvoidingView&gt;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Categoria (Modal)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CATEGORIES = ['Alimentação', 'Transporte', 'Material', 'Outros'];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&lt;Pressable onPress={() =&gt; setIsPickerOpen(true)}&gt;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&lt;Text&gt;{form.category || 'Escolha a categoria'}&lt;/Text&gt;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&lt;/Pressable&gt;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Excluir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confirmDelete()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Alert.alert('Excluir despesa', 'Esta ação não pode ser desfeita.',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text: 'Cancelar', style: 'cancel'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text: 'Excluir', style: 'destructive',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onPress: () =&gt; { deleteExpense(expenseId); navigation.goBack(); }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{isEditing &amp;&amp; &lt;Button title="Excluir" color="#E31E24" onPress={confirmDelete} /&gt;}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</a:rPr>
              <a:t>Aula 09 · Estado Global, Formulários e UX · Guia prático  ·  15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</a:rPr>
              <a:t>3.4 — Resultado do Bloco 3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0292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</a:rPr>
              <a:t>Teste na ordem: vazio → “ab” → valor 0 → data futura → sem categoria → válido</a:t>
            </a:r>
            <a:endParaRPr lang="en-US" sz="1300" dirty="0"/>
          </a:p>
        </p:txBody>
      </p:sp>
      <p:sp>
        <p:nvSpPr>
          <p:cNvPr id="4" name="rb"/>
          <p:cNvSpPr/>
          <p:nvPr/>
        </p:nvSpPr>
        <p:spPr>
          <a:xfrm>
            <a:off x="365760" y="960120"/>
            <a:ext cx="5669280" cy="5029200"/>
          </a:xfrm>
          <a:prstGeom prst="roundRect">
            <a:avLst>
              <a:gd name="adj" fmla="val 1455"/>
            </a:avLst>
          </a:prstGeom>
          <a:solidFill>
            <a:srgbClr val="EEF6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03327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</a:rPr>
              <a:t>Nova despesa (criar)</a:t>
            </a:r>
            <a:endParaRPr lang="en-US" sz="1100" dirty="0"/>
          </a:p>
        </p:txBody>
      </p:sp>
      <p:pic>
        <p:nvPicPr>
          <p:cNvPr id="6" name="Image 0" descr="C:\Users\Admin\Downloads\IESB-PDM-SUL\praticas\pratica07\_aula09_imgs\nov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325880"/>
            <a:ext cx="5029200" cy="4526280"/>
          </a:xfrm>
          <a:prstGeom prst="rect">
            <a:avLst/>
          </a:prstGeom>
        </p:spPr>
      </p:pic>
      <p:sp>
        <p:nvSpPr>
          <p:cNvPr id="7" name="rb"/>
          <p:cNvSpPr/>
          <p:nvPr/>
        </p:nvSpPr>
        <p:spPr>
          <a:xfrm>
            <a:off x="6309360" y="960120"/>
            <a:ext cx="5669280" cy="5029200"/>
          </a:xfrm>
          <a:prstGeom prst="roundRect">
            <a:avLst>
              <a:gd name="adj" fmla="val 1455"/>
            </a:avLst>
          </a:prstGeom>
          <a:solidFill>
            <a:srgbClr val="EEF6F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46520" y="103327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</a:rPr>
              <a:t>Editar despesa (Salvar + Excluir)</a:t>
            </a:r>
            <a:endParaRPr lang="en-US" sz="1100" dirty="0"/>
          </a:p>
        </p:txBody>
      </p:sp>
      <p:pic>
        <p:nvPicPr>
          <p:cNvPr id="9" name="Image 1" descr="C:\Users\Admin\Downloads\IESB-PDM-SUL\praticas\pratica07\_aula09_imgs\edita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29400" y="1325880"/>
            <a:ext cx="5029200" cy="45262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</a:rPr>
              <a:t>Aula 09 · Estado Global, Formulários e UX · Guia prático  ·  16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8C1D9"/>
                </a:solidFill>
              </a:rPr>
              <a:t>BLOCO 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Lista mais amigável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383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4CE"/>
                </a:solidFill>
              </a:rPr>
              <a:t>Busca · debounce · lista vazia · tema · sombra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</a:rPr>
              <a:t>4.1 — Busca com debounce + lista vazia</a:t>
            </a:r>
            <a:endParaRPr lang="en-US" sz="2400" dirty="0"/>
          </a:p>
        </p:txBody>
      </p:sp>
      <p:sp>
        <p:nvSpPr>
          <p:cNvPr id="3" name="b"/>
          <p:cNvSpPr/>
          <p:nvPr/>
        </p:nvSpPr>
        <p:spPr>
          <a:xfrm>
            <a:off x="365760" y="822960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0D737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8229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CRIAR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822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hooks/useDebounce.js</a:t>
            </a:r>
            <a:endParaRPr lang="en-US" sz="1200" dirty="0"/>
          </a:p>
        </p:txBody>
      </p:sp>
      <p:sp>
        <p:nvSpPr>
          <p:cNvPr id="6" name="code"/>
          <p:cNvSpPr/>
          <p:nvPr/>
        </p:nvSpPr>
        <p:spPr>
          <a:xfrm>
            <a:off x="365760" y="1188720"/>
            <a:ext cx="6766560" cy="4754880"/>
          </a:xfrm>
          <a:prstGeom prst="roundRect">
            <a:avLst>
              <a:gd name="adj" fmla="val 1154"/>
            </a:avLst>
          </a:prstGeom>
          <a:solidFill>
            <a:srgbClr val="1A233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1280160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useDebounce(value, delay = 400)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[debounced, setDebounced] = useState(value);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useEffect(()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t = setTimeout(() =&gt; setDebounced(value), delay);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() =&gt; clearTimeout(t);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 [value, delay]);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debounced;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TodasDespesas.js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debouncedQuery = useDebounce(query, 400);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filtered = useMemo(()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term = debouncedQuery.trim().toLowerCase();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expenses.filter((e) =&gt;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e.description.toLowerCase().includes(term)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[expenses, debouncedQuery]);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DespesaLista.js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ListEmptyComponent={EmptyList}  // ícone + "Nenhuma despesa" + "Toque em +"</a:t>
            </a:r>
            <a:endParaRPr lang="en-US" sz="1100" dirty="0"/>
          </a:p>
        </p:txBody>
      </p:sp>
      <p:sp>
        <p:nvSpPr>
          <p:cNvPr id="8" name="rb"/>
          <p:cNvSpPr/>
          <p:nvPr/>
        </p:nvSpPr>
        <p:spPr>
          <a:xfrm>
            <a:off x="7315200" y="1188720"/>
            <a:ext cx="4572000" cy="4754880"/>
          </a:xfrm>
          <a:prstGeom prst="roundRect">
            <a:avLst>
              <a:gd name="adj" fmla="val 1600"/>
            </a:avLst>
          </a:prstGeom>
          <a:solidFill>
            <a:srgbClr val="EEF6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52360" y="126187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</a:rPr>
              <a:t>Busca no topo de Todas</a:t>
            </a:r>
            <a:endParaRPr lang="en-US" sz="1100" dirty="0"/>
          </a:p>
        </p:txBody>
      </p:sp>
      <p:pic>
        <p:nvPicPr>
          <p:cNvPr id="10" name="Image 0" descr="C:\Users\Admin\Downloads\IESB-PDM-SUL\praticas\pratica07\_aula09_imgs\toda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35240" y="1554480"/>
            <a:ext cx="3931920" cy="42519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</a:rPr>
              <a:t>Aula 09 · Estado Global, Formulários e UX · Guia prático  ·  17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</a:rPr>
              <a:t>4.2 — Tema claro/escuro e sombra no card</a:t>
            </a:r>
            <a:endParaRPr lang="en-US" sz="2400" dirty="0"/>
          </a:p>
        </p:txBody>
      </p:sp>
      <p:sp>
        <p:nvSpPr>
          <p:cNvPr id="3" name="b"/>
          <p:cNvSpPr/>
          <p:nvPr/>
        </p:nvSpPr>
        <p:spPr>
          <a:xfrm>
            <a:off x="365760" y="822960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C4453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8229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CRIAR / ALTERAR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822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constants/theme.js  ·  app.json  ·  DespesaItem.js</a:t>
            </a:r>
            <a:endParaRPr lang="en-US" sz="1200" dirty="0"/>
          </a:p>
        </p:txBody>
      </p:sp>
      <p:sp>
        <p:nvSpPr>
          <p:cNvPr id="6" name="code"/>
          <p:cNvSpPr/>
          <p:nvPr/>
        </p:nvSpPr>
        <p:spPr>
          <a:xfrm>
            <a:off x="365760" y="1188720"/>
            <a:ext cx="11430000" cy="4572000"/>
          </a:xfrm>
          <a:prstGeom prst="roundRect">
            <a:avLst>
              <a:gd name="adj" fmla="val 1200"/>
            </a:avLst>
          </a:prstGeom>
          <a:solidFill>
            <a:srgbClr val="1A233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1280160"/>
            <a:ext cx="111556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constants/theme.js — themes.light / themes.dark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app.json → "userInterfaceStyle": "automatic"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Depois: npx expo start -c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Em TodasDespesas / DespesasRecentes: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scheme = useColorScheme();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colors = themes[scheme === 'dark' ? 'dark' : 'light'];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&lt;View style={{ backgroundColor: colors.background }}&gt;...&lt;/View&gt;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DespesaItem — sombra por plataforma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...Platform.select({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ios: { shadowColor: '#000', shadowOpacity: 0.15,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shadowRadius: 6, shadowOffset: { width: 0, height: 2 }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android: { elevation: 4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200" dirty="0"/>
          </a:p>
        </p:txBody>
      </p:sp>
      <p:sp>
        <p:nvSpPr>
          <p:cNvPr id="8" name="ck"/>
          <p:cNvSpPr/>
          <p:nvPr/>
        </p:nvSpPr>
        <p:spPr>
          <a:xfrm>
            <a:off x="365760" y="5623560"/>
            <a:ext cx="11430000" cy="731520"/>
          </a:xfrm>
          <a:prstGeom prst="roundRect">
            <a:avLst>
              <a:gd name="adj" fmla="val 7500"/>
            </a:avLst>
          </a:prstGeom>
          <a:solidFill>
            <a:srgbClr val="D1FAE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5696712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</a:rPr>
              <a:t>CHECKPOINT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59436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</a:rPr>
              <a:t>Busquei “luz” → só Conta de Luz. Busquei “xyz” → mensagem de lista vazia. Cards com sombra.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</a:rPr>
              <a:t>Aula 09 · Estado Global, Formulários e UX · Guia prático  ·  18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</a:rPr>
              <a:t>Erros comuns e como resolver</a:t>
            </a:r>
            <a:endParaRPr lang="en-US" sz="2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116128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114800"/>
                <a:gridCol w="4297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Sintoma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Causa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Correção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</a:rPr>
                        <a:t>Lista R$ 0,00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</a:rPr>
                        <a:t>DUMMY saiu; Salvar só em comentário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</a:rPr>
                        <a:t>Passo 1.4 — Button no JSX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</a:rPr>
                        <a:t>Invalid hook call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</a:rPr>
                        <a:t>renderItem={DespesaItem}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</a:rPr>
                        <a:t>renderItem={({item}) =&gt; &lt;DespesaItem item={item} /&gt;}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</a:rPr>
                        <a:t>getDate of undefined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</a:rPr>
                        <a:t>item.date ausente / nome data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</a:rPr>
                        <a:t>Usar date; conferir addExpense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</a:rPr>
                        <a:t>Não edita / Excluir some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</a:rPr>
                        <a:t>Abriu pelo + ou sem itens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</a:rPr>
                        <a:t>Abrir pelo item; isEditing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</a:rPr>
                        <a:t>Duplicata ao editar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</a:rPr>
                        <a:t>Sempre addExpense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</a:rPr>
                        <a:t>if (isEditing) updateExpense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</a:rPr>
                        <a:t>Some ao reabrir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</a:rPr>
                        <a:t>Salvou [] antes do load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</a:rPr>
                        <a:t>if (!isLoaded) return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</a:rPr>
                        <a:t>Modo escuro não muda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</a:rPr>
                        <a:t>app.json = light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</a:rPr>
                        <a:t>automatic + expo start -c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</a:rPr>
              <a:t>Aula 09 · Estado Global, Formulários e UX · Guia prático  ·  19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</a:rPr>
              <a:t>Mapa de arquivos da aula</a:t>
            </a:r>
            <a:endParaRPr lang="en-US" sz="2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11430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8412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Bloco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Ação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Arquivo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CRIAR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store/expenses-context.js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ALTERAR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App.js, TodasDespesas, DespesasRecentes, GerenciarDespesa (Salvar)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ALTERAR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DespesaItem.js, DespesaLista.js, GerenciarDespesa (update)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ALTERAR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GerenciarDespesa.js (form, validate, Modal, Excluir)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CRIAR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hooks/useDebounce.js, constants/theme.js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ALTERAR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</a:rPr>
                        <a:t>TodasDespesas, DespesaLista, DespesaItem, DespesaSumario, app.json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</a:rPr>
              <a:t>Aula 09 · Estado Global, Formulários e UX · Guia prático  ·  20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</a:rPr>
              <a:t>Checklist final — você chegou no resultado dos prints?</a:t>
            </a:r>
            <a:endParaRPr lang="en-US" sz="2400" dirty="0"/>
          </a:p>
        </p:txBody>
      </p:sp>
      <p:sp>
        <p:nvSpPr>
          <p:cNvPr id="3" name="cf0"/>
          <p:cNvSpPr/>
          <p:nvPr/>
        </p:nvSpPr>
        <p:spPr>
          <a:xfrm>
            <a:off x="365760" y="1051560"/>
            <a:ext cx="11430000" cy="594360"/>
          </a:xfrm>
          <a:prstGeom prst="roundRect">
            <a:avLst>
              <a:gd name="adj" fmla="val 9231"/>
            </a:avLst>
          </a:prstGeom>
          <a:solidFill>
            <a:srgbClr val="F0F4F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0515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</a:rPr>
              <a:t>☐  Todas: busca + Total + N despesas + lista com data/descrição/categoria/valor</a:t>
            </a:r>
            <a:endParaRPr lang="en-US" sz="1500" dirty="0"/>
          </a:p>
        </p:txBody>
      </p:sp>
      <p:sp>
        <p:nvSpPr>
          <p:cNvPr id="5" name="cf1"/>
          <p:cNvSpPr/>
          <p:nvPr/>
        </p:nvSpPr>
        <p:spPr>
          <a:xfrm>
            <a:off x="365760" y="1737360"/>
            <a:ext cx="11430000" cy="594360"/>
          </a:xfrm>
          <a:prstGeom prst="roundRect">
            <a:avLst>
              <a:gd name="adj" fmla="val 9231"/>
            </a:avLst>
          </a:prstGeom>
          <a:solidFill>
            <a:srgbClr val="F0F4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7373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</a:rPr>
              <a:t>☐  Recentes: filtro 7 dias + mesmo layout de itens</a:t>
            </a:r>
            <a:endParaRPr lang="en-US" sz="1500" dirty="0"/>
          </a:p>
        </p:txBody>
      </p:sp>
      <p:sp>
        <p:nvSpPr>
          <p:cNvPr id="7" name="cf2"/>
          <p:cNvSpPr/>
          <p:nvPr/>
        </p:nvSpPr>
        <p:spPr>
          <a:xfrm>
            <a:off x="365760" y="2423160"/>
            <a:ext cx="11430000" cy="594360"/>
          </a:xfrm>
          <a:prstGeom prst="roundRect">
            <a:avLst>
              <a:gd name="adj" fmla="val 9231"/>
            </a:avLst>
          </a:prstGeom>
          <a:solidFill>
            <a:srgbClr val="F0F4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24231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</a:rPr>
              <a:t>☐  Nova despesa: campos + categoria + Salvar</a:t>
            </a:r>
            <a:endParaRPr lang="en-US" sz="1500" dirty="0"/>
          </a:p>
        </p:txBody>
      </p:sp>
      <p:sp>
        <p:nvSpPr>
          <p:cNvPr id="9" name="cf3"/>
          <p:cNvSpPr/>
          <p:nvPr/>
        </p:nvSpPr>
        <p:spPr>
          <a:xfrm>
            <a:off x="365760" y="3108960"/>
            <a:ext cx="11430000" cy="594360"/>
          </a:xfrm>
          <a:prstGeom prst="roundRect">
            <a:avLst>
              <a:gd name="adj" fmla="val 9231"/>
            </a:avLst>
          </a:prstGeom>
          <a:solidFill>
            <a:srgbClr val="F0F4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1089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</a:rPr>
              <a:t>☐  Editar despesa: campos preenchidos + Salvar + Excluir</a:t>
            </a:r>
            <a:endParaRPr lang="en-US" sz="1500" dirty="0"/>
          </a:p>
        </p:txBody>
      </p:sp>
      <p:sp>
        <p:nvSpPr>
          <p:cNvPr id="11" name="cf4"/>
          <p:cNvSpPr/>
          <p:nvPr/>
        </p:nvSpPr>
        <p:spPr>
          <a:xfrm>
            <a:off x="365760" y="3794760"/>
            <a:ext cx="11430000" cy="594360"/>
          </a:xfrm>
          <a:prstGeom prst="roundRect">
            <a:avLst>
              <a:gd name="adj" fmla="val 9231"/>
            </a:avLst>
          </a:prstGeom>
          <a:solidFill>
            <a:srgbClr val="F0F4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3794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</a:rPr>
              <a:t>☐  Persistência: fechar e reabrir o app mantém as despesas</a:t>
            </a:r>
            <a:endParaRPr lang="en-US" sz="1500" dirty="0"/>
          </a:p>
        </p:txBody>
      </p:sp>
      <p:sp>
        <p:nvSpPr>
          <p:cNvPr id="13" name="cf5"/>
          <p:cNvSpPr/>
          <p:nvPr/>
        </p:nvSpPr>
        <p:spPr>
          <a:xfrm>
            <a:off x="365760" y="4480560"/>
            <a:ext cx="11430000" cy="594360"/>
          </a:xfrm>
          <a:prstGeom prst="roundRect">
            <a:avLst>
              <a:gd name="adj" fmla="val 9231"/>
            </a:avLst>
          </a:prstGeom>
          <a:solidFill>
            <a:srgbClr val="F0F4F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44805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</a:rPr>
              <a:t>☐  Validação: dados inválidos não salvam e mostram mensagem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</a:rPr>
              <a:t>Aula 09 · Estado Global, Formulários e UX · Guia prático  ·  21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Dúvidas?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4CE"/>
                </a:solidFill>
              </a:rPr>
              <a:t>Próxima aula: Expo Router, recursos nativos e consumo de API.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C4CE"/>
                </a:solidFill>
              </a:rPr>
              <a:t>Consulte o slide de erros antes de pedir ajuda — cobre a maioria dos casos.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DM Aula 09">
  <a:themeElements>
    <a:clrScheme name="PDM Aula 09">
      <a:dk1>
        <a:srgbClr val="1A2332"/>
      </a:dk1>
      <a:lt1>
        <a:srgbClr val="FFFFFF"/>
      </a:lt1>
      <a:dk2>
        <a:srgbClr val="2C3E50"/>
      </a:dk2>
      <a:lt2>
        <a:srgbClr val="F0F4F8"/>
      </a:lt2>
      <a:accent1>
        <a:srgbClr val="0D7377"/>
      </a:accent1>
      <a:accent2>
        <a:srgbClr val="14919B"/>
      </a:accent2>
      <a:accent3>
        <a:srgbClr val="C44536"/>
      </a:accent3>
      <a:accent4>
        <a:srgbClr val="E8A838"/>
      </a:accent4>
      <a:accent5>
        <a:srgbClr val="3D5A80"/>
      </a:accent5>
      <a:accent6>
        <a:srgbClr val="98C1D9"/>
      </a:accent6>
      <a:hlink>
        <a:srgbClr val="0D7377"/>
      </a:hlink>
      <a:folHlink>
        <a:srgbClr val="14919B"/>
      </a:folHlink>
    </a:clrScheme>
    <a:fontScheme name="PDM Aula 09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09 - Estado Global, Formularios e UX (Guia Pratico)</dc:title>
  <dc:subject>PptxGenJS Presentation</dc:subject>
  <dc:creator>PDM - Prof. Marcelo / Guia pratico</dc:creator>
  <cp:lastModifiedBy>PDM - Prof. Marcelo / Guia pratico</cp:lastModifiedBy>
  <cp:revision>1</cp:revision>
  <dcterms:created xsi:type="dcterms:W3CDTF">2026-10-17T14:46:29Z</dcterms:created>
  <dcterms:modified xsi:type="dcterms:W3CDTF">2026-10-17T14:46:29Z</dcterms:modified>
</cp:coreProperties>
</file>