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02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8" r:id="rId49"/>
    <p:sldId id="263" r:id="rId9"/>
    <p:sldId id="264" r:id="rId10"/>
    <p:sldId id="265" r:id="rId11"/>
    <p:sldId id="266" r:id="rId12"/>
    <p:sldId id="295" r:id="rId46"/>
    <p:sldId id="294" r:id="rId45"/>
    <p:sldId id="267" r:id="rId13"/>
    <p:sldId id="268" r:id="rId14"/>
    <p:sldId id="296" r:id="rId47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97" r:id="rId48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d1950606-489c-b106-0828-d4904a83accf}">
          <p14:sldIdLst>
            <p14:sldId id="256"/>
            <p14:sldId id="257"/>
            <p14:sldId id="258"/>
          </p14:sldIdLst>
        </p14:section>
        <p14:section name="Expo Router" id="{039c48f8-7bb3-c837-eb19-c30d02286e15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Recursos nativos" id="{4f686123-c801-871c-61f8-79d2891c30d0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Animações" id="{d3197a3a-6a4e-0eb8-1b2a-79fd3257cadc}">
          <p14:sldIdLst>
            <p14:sldId id="280"/>
            <p14:sldId id="281"/>
          </p14:sldIdLst>
        </p14:section>
        <p14:section name="Ponte para o backend" id="{08c0ceb9-f807-1383-02d0-8788ccae7278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Encerramento" id="{95237ad6-472d-d6c8-eb12-e919b0420b20}">
          <p14:sldIdLst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8.xml"/><Relationship Id="rId16" Type="http://schemas.openxmlformats.org/officeDocument/2006/relationships/slide" Target="slides/slide19.xml"/><Relationship Id="rId17" Type="http://schemas.openxmlformats.org/officeDocument/2006/relationships/slide" Target="slides/slide20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6.xml"/><Relationship Id="rId24" Type="http://schemas.openxmlformats.org/officeDocument/2006/relationships/slide" Target="slides/slide27.xml"/><Relationship Id="rId25" Type="http://schemas.openxmlformats.org/officeDocument/2006/relationships/slide" Target="slides/slide28.xml"/><Relationship Id="rId26" Type="http://schemas.openxmlformats.org/officeDocument/2006/relationships/slide" Target="slides/slide30.xml"/><Relationship Id="rId27" Type="http://schemas.openxmlformats.org/officeDocument/2006/relationships/slide" Target="slides/slide31.xml"/><Relationship Id="rId28" Type="http://schemas.openxmlformats.org/officeDocument/2006/relationships/slide" Target="slides/slide32.xml"/><Relationship Id="rId29" Type="http://schemas.openxmlformats.org/officeDocument/2006/relationships/slide" Target="slides/slide33.xml"/><Relationship Id="rId30" Type="http://schemas.openxmlformats.org/officeDocument/2006/relationships/slide" Target="slides/slide34.xml"/><Relationship Id="rId31" Type="http://schemas.openxmlformats.org/officeDocument/2006/relationships/slide" Target="slides/slide35.xml"/><Relationship Id="rId32" Type="http://schemas.openxmlformats.org/officeDocument/2006/relationships/slide" Target="slides/slide36.xml"/><Relationship Id="rId33" Type="http://schemas.openxmlformats.org/officeDocument/2006/relationships/slide" Target="slides/slide37.xml"/><Relationship Id="rId34" Type="http://schemas.openxmlformats.org/officeDocument/2006/relationships/slide" Target="slides/slide38.xml"/><Relationship Id="rId35" Type="http://schemas.openxmlformats.org/officeDocument/2006/relationships/slide" Target="slides/slide39.xml"/><Relationship Id="rId36" Type="http://schemas.openxmlformats.org/officeDocument/2006/relationships/slide" Target="slides/slide40.xml"/><Relationship Id="rId37" Type="http://schemas.openxmlformats.org/officeDocument/2006/relationships/slide" Target="slides/slide41.xml"/><Relationship Id="rId38" Type="http://schemas.openxmlformats.org/officeDocument/2006/relationships/slide" Target="slides/slide42.xml"/><Relationship Id="rId39" Type="http://schemas.openxmlformats.org/officeDocument/2006/relationships/slide" Target="slides/slide43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4.xml"/><Relationship Id="rId46" Type="http://schemas.openxmlformats.org/officeDocument/2006/relationships/slide" Target="slides/slide13.xml"/><Relationship Id="rId47" Type="http://schemas.openxmlformats.org/officeDocument/2006/relationships/slide" Target="slides/slide17.xml"/><Relationship Id="rId48" Type="http://schemas.openxmlformats.org/officeDocument/2006/relationships/slide" Target="slides/slide29.xml"/><Relationship Id="rId49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 aula complementar. Iniciamos o esqueleto do projeto final CampusGo e terminamos consumindo uma API REST, preparando a aula de banco de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Aula 09 o app de despesas ganhou estado global e formulários. Hoje criamos um projeto novo, já no formato do projeto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bloco alimenta diretamente um requisito do projeto final CampusGo.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claro: o Expo Router usa o React Navigation por baixo. Nada da Aula 07 é perdido.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Nomes de arquivos e rotas em inglês; os textos exibidos ao usuário ficam em português.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Instalação manual sobre o template blank, o mesmo usado desde a Aula 03, para manter JavaScript.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com o createBottomTabNavigator da Aula 07: mesmas opções (title, tabBarIcon).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Stack.Screen name='new-task' só funciona se este arquivo existir. router.back() fecha o modal e volta para Tarefas.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Copie store/expenses-context.js do Gerenciador para a raiz do campus-go e instale o AsyncStorage de novo. O Provider envolve o Stack que já tinha as telas (tabs), task/[id] e new-task.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permissão deve ser pedida no momento do uso, nunca ao abrir o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 Go cobre quase tudo desta aula. Push remoto exige development build (EAS).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npx expo install expo-image-picker. A galeria usa o seletor do sistema e não exige permissão; a câmera exige.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manter a foto após fechar o app, salvar a URI no AsyncStorage (atividade).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URI devolvida pelo image picker pode ser temporária no iOS. Para a atividade, persistir a string já cumpre o requisito.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npx expo install expo-location. No emulador Android: Extended controls (...) &gt; Location para simular coordenadas.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emulador Android, defina uma coordenada em Extended controls, Location, antes de tocar no botão. Se a permissão for negada, o app avisa e continua.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npx expo install expo-notifications. Notificações locais funcionam no Expo Go; push remoto não (Android, SDK 53+). No Android 13+, o canal precisa existir antes de pedir a permissão.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Animated: simples, ótimo para fade e slide. Reanimated: animações complexas e gestos rodando na thread de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Daqui em diante os dados não ficam mais só no celular: esta é a base da próxima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última coluna antecipa as funções do Firestore usadas na aula de banco de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Variáveis EXPO_PUBLIC_ são embutidas no app no momento do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trocarmos de API (ou para o Firestore), as telas não mudam: só este serviço.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a tela nunca fica em branco: sempre comunica o que está acontecendo.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tabela para os alunos planejarem as sprints do projeto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AppData\Local\Temp\pdm_deck\assets\keyboar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148072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Image 1" descr="C:\Users\Admin\AppData\Local\Temp\pdm_deck\assets\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566928" cy="6309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2377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Programação para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685800" y="29260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dirty="0">
                <a:solidFill>
                  <a:srgbClr val="A6AC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DISPOSITIVOS</a:t>
            </a:r>
            <a:endParaRPr lang="en-US" sz="5800" dirty="0"/>
          </a:p>
        </p:txBody>
      </p:sp>
      <p:sp>
        <p:nvSpPr>
          <p:cNvPr id="7" name="Text 3"/>
          <p:cNvSpPr/>
          <p:nvPr/>
        </p:nvSpPr>
        <p:spPr>
          <a:xfrm>
            <a:off x="685800" y="37947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dirty="0">
                <a:solidFill>
                  <a:srgbClr val="A6AC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MÓVEIS</a:t>
            </a:r>
            <a:endParaRPr lang="en-US" sz="5800" dirty="0"/>
          </a:p>
        </p:txBody>
      </p:sp>
      <p:sp>
        <p:nvSpPr>
          <p:cNvPr id="8" name="Text 4"/>
          <p:cNvSpPr/>
          <p:nvPr>
            <p:ph idx="106" type="title" hasCustomPrompt="1"/>
          </p:nvPr>
        </p:nvSpPr>
        <p:spPr>
          <a:xfrm>
            <a:off x="685800" y="5303520"/>
            <a:ext cx="6766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1E1E24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9" name="Text 4"/>
          <p:cNvSpPr/>
          <p:nvPr>
            <p:ph idx="107" type="body" hasCustomPrompt="1"/>
          </p:nvPr>
        </p:nvSpPr>
        <p:spPr>
          <a:xfrm>
            <a:off x="685800" y="5870448"/>
            <a:ext cx="67665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2F2F3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rgbClr val="1E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AppData\Local\Temp\pdm_deck\assets\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6053328"/>
            <a:ext cx="502920" cy="56692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554480"/>
            <a:ext cx="3657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600" b="1" dirty="0">
                <a:solidFill>
                  <a:srgbClr val="A6ACE4"/>
                </a:solidFill>
              </a:defRPr>
            </a:lvl1pPr>
          </a:lstStyle>
          <a:p>
            <a:pPr indent="0" marL="0">
              <a:buNone/>
            </a:pPr>
            <a:endParaRPr lang="en-US" sz="9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822960" y="2971800"/>
            <a:ext cx="69494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22960" y="4251960"/>
            <a:ext cx="6766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A6ACE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AppData\Local\Temp\pdm_deck\assets\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6053328"/>
            <a:ext cx="502920" cy="56692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rgbClr val="1E1E24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ERRAMENTO">
    <p:bg>
      <p:bgPr>
        <a:solidFill>
          <a:srgbClr val="1E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AppData\Local\Temp\pdm_deck\assets\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6053328"/>
            <a:ext cx="502920" cy="56692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9" Type="http://schemas.openxmlformats.org/officeDocument/2006/relationships/image" Target="../media/image-33-9.png"/><Relationship Id="rId10" Type="http://schemas.openxmlformats.org/officeDocument/2006/relationships/image" Target="../media/image-33-10.png"/><Relationship Id="rId11" Type="http://schemas.openxmlformats.org/officeDocument/2006/relationships/image" Target="../media/image-33-5.png"/><Relationship Id="rId12" Type="http://schemas.openxmlformats.org/officeDocument/2006/relationships/image" Target="../media/image-33-12.png"/><Relationship Id="rId13" Type="http://schemas.openxmlformats.org/officeDocument/2006/relationships/image" Target="../media/image-33-13.png"/><Relationship Id="rId14" Type="http://schemas.openxmlformats.org/officeDocument/2006/relationships/image" Target="../media/image-33-14.png"/><Relationship Id="rId15" Type="http://schemas.openxmlformats.org/officeDocument/2006/relationships/image" Target="../media/image-33-15.png"/><Relationship Id="rId16" Type="http://schemas.openxmlformats.org/officeDocument/2006/relationships/image" Target="../media/image-33-5.png"/><Relationship Id="rId17" Type="http://schemas.openxmlformats.org/officeDocument/2006/relationships/slideLayout" Target="../slideLayouts/slideLayout4.xml"/><Relationship Id="rId18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6" type="title" hasCustomPrompt="1"/>
          </p:nvPr>
        </p:nvSpPr>
        <p:spPr>
          <a:xfrm>
            <a:off x="685800" y="53035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E1E24"/>
                </a:solidFill>
              </a:rPr>
              <a:t>Aula 10: Expo Router e Recursos Nativos</a:t>
            </a:r>
            <a:endParaRPr lang="en-US" sz="2400" dirty="0"/>
          </a:p>
        </p:txBody>
      </p:sp>
      <p:sp>
        <p:nvSpPr>
          <p:cNvPr id="3" name="Text 4"/>
          <p:cNvSpPr/>
          <p:nvPr>
            <p:ph idx="107" type="body" hasCustomPrompt="1"/>
          </p:nvPr>
        </p:nvSpPr>
        <p:spPr>
          <a:xfrm>
            <a:off x="685800" y="587044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2F37"/>
                </a:solidFill>
              </a:rPr>
              <a:t>Prof. Marcelo Alves Farias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14807" y="574060"/>
            <a:ext cx="2440759" cy="5278054"/>
          </a:xfrm>
          <a:prstGeom prst="roundRect">
            <a:avLst>
              <a:gd name="adj" fmla="val 9366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14807" y="574060"/>
            <a:ext cx="2440759" cy="5278054"/>
          </a:xfrm>
          <a:prstGeom prst="rect">
            <a:avLst>
              <a:gd name="adj" fmla="val 2595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14807" y="574060"/>
            <a:ext cx="2440759" cy="789148"/>
          </a:xfrm>
          <a:prstGeom prst="rect">
            <a:avLst>
              <a:gd name="adj" fmla="val 8027"/>
            </a:avLst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83722" y="919807"/>
            <a:ext cx="1680643" cy="380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CampusGo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883722" y="1553237"/>
            <a:ext cx="2102930" cy="897359"/>
          </a:xfrm>
          <a:prstGeom prst="roundRect">
            <a:avLst>
              <a:gd name="adj" fmla="val 11765"/>
            </a:avLst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031522" y="1658809"/>
            <a:ext cx="1891787" cy="337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Olá, Maria!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031522" y="2017752"/>
            <a:ext cx="1891787" cy="295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de Software · Noturno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883722" y="2630068"/>
            <a:ext cx="2102930" cy="295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2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tarefas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883722" y="2989012"/>
            <a:ext cx="2102930" cy="52785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9293" y="3115697"/>
            <a:ext cx="274486" cy="27448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9358794" y="3020683"/>
            <a:ext cx="1522286" cy="274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PDM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9358794" y="3263498"/>
            <a:ext cx="1522286" cy="211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19h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8883722" y="3622441"/>
            <a:ext cx="2102930" cy="52785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9293" y="3749127"/>
            <a:ext cx="274486" cy="27448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358794" y="3654113"/>
            <a:ext cx="1522286" cy="274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de Cálculo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9358794" y="3896928"/>
            <a:ext cx="1522286" cy="211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Amanhã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8883722" y="4255871"/>
            <a:ext cx="2102930" cy="52785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9293" y="4382557"/>
            <a:ext cx="274486" cy="27448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358794" y="4287543"/>
            <a:ext cx="1522286" cy="274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CampusGo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9358794" y="4530357"/>
            <a:ext cx="1522286" cy="211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Sexta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8714807" y="5113113"/>
            <a:ext cx="2440759" cy="739001"/>
          </a:xfrm>
          <a:prstGeom prst="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4EE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3216" y="5197570"/>
            <a:ext cx="253372" cy="25337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714807" y="5461499"/>
            <a:ext cx="610190" cy="211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7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7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3406" y="5197570"/>
            <a:ext cx="253372" cy="25337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324997" y="5461499"/>
            <a:ext cx="610190" cy="211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endParaRPr lang="en-US" sz="7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3595" y="5197570"/>
            <a:ext cx="253372" cy="25337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935187" y="5461499"/>
            <a:ext cx="610190" cy="211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Bolso</a:t>
            </a:r>
            <a:endParaRPr lang="en-US" sz="7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3785" y="5197570"/>
            <a:ext cx="253372" cy="25337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0545376" y="5461499"/>
            <a:ext cx="610190" cy="211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700" dirty="0"/>
          </a:p>
        </p:txBody>
      </p:sp>
      <p:pic>
        <p:nvPicPr>
          <p:cNvPr id="33" name="Image 7" descr="Moldura de celula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411480"/>
            <a:ext cx="3837672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Onde estamos na disciplina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051560" y="2148840"/>
            <a:ext cx="10332720" cy="0"/>
          </a:xfrm>
          <a:prstGeom prst="line">
            <a:avLst/>
          </a:prstGeom>
          <a:noFill/>
          <a:ln w="25400">
            <a:solidFill>
              <a:srgbClr val="A6ACE4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A6ACE4"/>
          </a:solidFill>
          <a:ln w="12700">
            <a:solidFill>
              <a:srgbClr val="A6ACE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772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4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53288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8"/>
                </a:solidFill>
              </a:rPr>
              <a:t>Introdução ao RN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810512" y="1874520"/>
            <a:ext cx="548640" cy="548640"/>
          </a:xfrm>
          <a:prstGeom prst="ellipse">
            <a:avLst/>
          </a:prstGeom>
          <a:solidFill>
            <a:srgbClr val="A6ACE4"/>
          </a:solidFill>
          <a:ln w="12700">
            <a:solidFill>
              <a:srgbClr val="A6ACE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181051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4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581912" y="253288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8"/>
                </a:solidFill>
              </a:rPr>
              <a:t>Ambiente e 1º projeto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843784" y="1874520"/>
            <a:ext cx="548640" cy="548640"/>
          </a:xfrm>
          <a:prstGeom prst="ellipse">
            <a:avLst/>
          </a:prstGeom>
          <a:solidFill>
            <a:srgbClr val="A6ACE4"/>
          </a:solidFill>
          <a:ln w="12700">
            <a:solidFill>
              <a:srgbClr val="A6ACE4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284378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4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615184" y="253288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8"/>
                </a:solidFill>
              </a:rPr>
              <a:t>Componentes e estilos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877056" y="1874520"/>
            <a:ext cx="548640" cy="548640"/>
          </a:xfrm>
          <a:prstGeom prst="ellipse">
            <a:avLst/>
          </a:prstGeom>
          <a:solidFill>
            <a:srgbClr val="A6ACE4"/>
          </a:solidFill>
          <a:ln w="12700">
            <a:solidFill>
              <a:srgbClr val="A6ACE4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387705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4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648456" y="253288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8"/>
                </a:solidFill>
              </a:rPr>
              <a:t>Layout e Flexbox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910328" y="1874520"/>
            <a:ext cx="548640" cy="548640"/>
          </a:xfrm>
          <a:prstGeom prst="ellipse">
            <a:avLst/>
          </a:prstGeom>
          <a:solidFill>
            <a:srgbClr val="A6ACE4"/>
          </a:solidFill>
          <a:ln w="12700">
            <a:solidFill>
              <a:srgbClr val="A6ACE4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491032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4"/>
                </a:solidFill>
              </a:rPr>
              <a:t>05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681728" y="253288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8"/>
                </a:solidFill>
              </a:rPr>
              <a:t>Estado e props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43600" y="1874520"/>
            <a:ext cx="548640" cy="548640"/>
          </a:xfrm>
          <a:prstGeom prst="ellipse">
            <a:avLst/>
          </a:prstGeom>
          <a:solidFill>
            <a:srgbClr val="A6ACE4"/>
          </a:solidFill>
          <a:ln w="12700">
            <a:solidFill>
              <a:srgbClr val="A6ACE4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59436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4"/>
                </a:solidFill>
              </a:rPr>
              <a:t>06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715000" y="253288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8"/>
                </a:solidFill>
              </a:rPr>
              <a:t>Eventos e persistência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976872" y="1874520"/>
            <a:ext cx="548640" cy="548640"/>
          </a:xfrm>
          <a:prstGeom prst="ellipse">
            <a:avLst/>
          </a:prstGeom>
          <a:solidFill>
            <a:srgbClr val="A6ACE4"/>
          </a:solidFill>
          <a:ln w="12700">
            <a:solidFill>
              <a:srgbClr val="A6ACE4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697687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4"/>
                </a:solidFill>
              </a:rPr>
              <a:t>07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748272" y="253288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8"/>
                </a:solidFill>
              </a:rPr>
              <a:t>Navegação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010144" y="1874520"/>
            <a:ext cx="548640" cy="548640"/>
          </a:xfrm>
          <a:prstGeom prst="ellipse">
            <a:avLst/>
          </a:prstGeom>
          <a:solidFill>
            <a:srgbClr val="A6ACE4"/>
          </a:solidFill>
          <a:ln w="12700">
            <a:solidFill>
              <a:srgbClr val="A6ACE4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801014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4"/>
                </a:solidFill>
              </a:rPr>
              <a:t>08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781544" y="253288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8"/>
                </a:solidFill>
              </a:rPr>
              <a:t>Interface e funções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043416" y="1874520"/>
            <a:ext cx="548640" cy="54864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904341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8814816" y="253288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7B8"/>
                </a:solidFill>
              </a:rPr>
              <a:t>Estado global e formulários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9994392" y="1792224"/>
            <a:ext cx="713232" cy="713232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9994392" y="179222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9848088" y="253288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7B8"/>
                </a:solidFill>
              </a:rPr>
              <a:t>Expo Router e recursos nativos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11109960" y="187452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7B8"/>
            </a:solidFill>
            <a:prstDash val="dash"/>
          </a:ln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111099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7B8"/>
                </a:solidFill>
              </a:rPr>
              <a:t>BD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10881360" y="253288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8"/>
                </a:solidFill>
              </a:rPr>
              <a:t>Banco de dados (Firebase)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8933688" y="1581912"/>
            <a:ext cx="1801368" cy="1691640"/>
          </a:xfrm>
          <a:prstGeom prst="roundRect">
            <a:avLst>
              <a:gd name="adj" fmla="val 5405"/>
            </a:avLst>
          </a:prstGeom>
          <a:solidFill>
            <a:srgbClr val="4757B8">
              <a:alpha val="8000"/>
            </a:srgbClr>
          </a:solidFill>
          <a:ln w="12700">
            <a:solidFill>
              <a:srgbClr val="4757B8"/>
            </a:solidFill>
            <a:prstDash val="dash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8933688" y="1307592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7B8"/>
                </a:solidFill>
              </a:rPr>
              <a:t>aulas complementares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48640" y="3611880"/>
            <a:ext cx="5271516" cy="2514600"/>
          </a:xfrm>
          <a:prstGeom prst="roundRect">
            <a:avLst>
              <a:gd name="adj" fmla="val 3636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  <p:txBody>
          <a:bodyPr/>
          <a:p/>
        </p:txBody>
      </p:sp>
      <p:sp>
        <p:nvSpPr>
          <p:cNvPr id="44" name="Shape 41"/>
          <p:cNvSpPr/>
          <p:nvPr/>
        </p:nvSpPr>
        <p:spPr>
          <a:xfrm>
            <a:off x="777240" y="3813048"/>
            <a:ext cx="457200" cy="45720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3915918"/>
            <a:ext cx="251460" cy="251460"/>
          </a:xfrm>
          <a:prstGeom prst="rect">
            <a:avLst/>
          </a:prstGeom>
        </p:spPr>
      </p:pic>
      <p:sp>
        <p:nvSpPr>
          <p:cNvPr id="46" name="Text 42"/>
          <p:cNvSpPr txBox="1"/>
          <p:nvPr/>
        </p:nvSpPr>
        <p:spPr>
          <a:xfrm>
            <a:off x="1371600" y="3794760"/>
            <a:ext cx="42656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24"/>
                </a:solidFill>
              </a:rPr>
              <a:t>Na Aula 09 vimos</a:t>
            </a:r>
            <a:endParaRPr lang="en-US" sz="1600" dirty="0"/>
          </a:p>
        </p:txBody>
      </p:sp>
      <p:sp>
        <p:nvSpPr>
          <p:cNvPr id="47" name="Text 43"/>
          <p:cNvSpPr txBox="1"/>
          <p:nvPr/>
        </p:nvSpPr>
        <p:spPr>
          <a:xfrm>
            <a:off x="822960" y="4389120"/>
            <a:ext cx="48143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F2F37"/>
                </a:solidFill>
              </a:rPr>
              <a:t>Context API +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useReducer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(estado global)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route.params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para criar e editar na mesma tela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F2F37"/>
                </a:solidFill>
              </a:rPr>
              <a:t>Validação,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Modal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,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e teclado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F2F37"/>
                </a:solidFill>
              </a:rPr>
              <a:t>Busca com debounce, tema escuro e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</a:t>
            </a:r>
            <a:endParaRPr lang="en-US" sz="1350" dirty="0"/>
          </a:p>
        </p:txBody>
      </p:sp>
      <p:sp>
        <p:nvSpPr>
          <p:cNvPr id="48" name="Shape 44"/>
          <p:cNvSpPr/>
          <p:nvPr/>
        </p:nvSpPr>
        <p:spPr>
          <a:xfrm>
            <a:off x="6094476" y="3611880"/>
            <a:ext cx="5271516" cy="2514600"/>
          </a:xfrm>
          <a:prstGeom prst="roundRect">
            <a:avLst>
              <a:gd name="adj" fmla="val 3636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49" name="Shape 45"/>
          <p:cNvSpPr/>
          <p:nvPr/>
        </p:nvSpPr>
        <p:spPr>
          <a:xfrm>
            <a:off x="6323076" y="3813048"/>
            <a:ext cx="457200" cy="45720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946" y="3915918"/>
            <a:ext cx="251460" cy="251460"/>
          </a:xfrm>
          <a:prstGeom prst="rect">
            <a:avLst/>
          </a:prstGeom>
        </p:spPr>
      </p:pic>
      <p:sp>
        <p:nvSpPr>
          <p:cNvPr id="51" name="Text 46"/>
          <p:cNvSpPr txBox="1"/>
          <p:nvPr/>
        </p:nvSpPr>
        <p:spPr>
          <a:xfrm>
            <a:off x="6917436" y="3794760"/>
            <a:ext cx="42656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24"/>
                </a:solidFill>
              </a:rPr>
              <a:t>Hoje</a:t>
            </a:r>
            <a:endParaRPr lang="en-US" sz="1600" dirty="0"/>
          </a:p>
        </p:txBody>
      </p:sp>
      <p:sp>
        <p:nvSpPr>
          <p:cNvPr id="52" name="Text 47"/>
          <p:cNvSpPr txBox="1"/>
          <p:nvPr/>
        </p:nvSpPr>
        <p:spPr>
          <a:xfrm>
            <a:off x="6368796" y="4389120"/>
            <a:ext cx="48143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F2F37"/>
                </a:solidFill>
              </a:rPr>
              <a:t>Expo Router: navegação baseada em arquivos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F2F37"/>
                </a:solidFill>
              </a:rPr>
              <a:t>Câmera, localização, notificações e vibração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F2F37"/>
                </a:solidFill>
              </a:rPr>
              <a:t>Animações simples de feedback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F2F37"/>
                </a:solidFill>
              </a:rPr>
              <a:t>API REST + formulário de tarefas no modal</a:t>
            </a:r>
            <a:pPr indent="0" marL="0">
              <a:buNone/>
            </a:pPr>
            <a:r>
              <a:rPr lang="en-US" sz="1350" b="1" dirty="0">
                <a:solidFill>
                  <a:srgbClr val="2F2F37"/>
                </a:solidFill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Objetivos da aula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508760"/>
            <a:ext cx="5408676" cy="2148840"/>
          </a:xfrm>
          <a:prstGeom prst="roundRect">
            <a:avLst>
              <a:gd name="adj" fmla="val 425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170992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1823085"/>
            <a:ext cx="276606" cy="27660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1673352"/>
            <a:ext cx="4357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24"/>
                </a:solidFill>
              </a:rPr>
              <a:t>Expo Router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148840"/>
            <a:ext cx="43571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2F37"/>
                </a:solidFill>
              </a:rPr>
              <a:t>Estruturar o app com </a:t>
            </a:r>
            <a:pPr indent="0" marL="0">
              <a:buNone/>
            </a:pPr>
            <a:r>
              <a:rPr lang="en-US" sz="1500" b="1" dirty="0">
                <a:solidFill>
                  <a:srgbClr val="2F2F37"/>
                </a:solidFill>
              </a:rPr>
              <a:t>pastas e arquivos</a:t>
            </a:r>
            <a:pPr indent="0" marL="0">
              <a:buNone/>
            </a:pPr>
            <a:r>
              <a:rPr lang="en-US" sz="1500" dirty="0">
                <a:solidFill>
                  <a:srgbClr val="2F2F37"/>
                </a:solidFill>
              </a:rPr>
              <a:t>: abas, pilha, rotas dinâmicas e modal.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231636" y="1508760"/>
            <a:ext cx="5408676" cy="2148840"/>
          </a:xfrm>
          <a:prstGeom prst="roundRect">
            <a:avLst>
              <a:gd name="adj" fmla="val 425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32804" y="170992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961" y="1823085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00316" y="1673352"/>
            <a:ext cx="4357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24"/>
                </a:solidFill>
              </a:rPr>
              <a:t>Recursos nativos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7100316" y="2148840"/>
            <a:ext cx="43571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2F37"/>
                </a:solidFill>
              </a:rPr>
              <a:t>Pedir </a:t>
            </a:r>
            <a:pPr indent="0" marL="0">
              <a:buNone/>
            </a:pPr>
            <a:r>
              <a:rPr lang="en-US" sz="1500" b="1" dirty="0">
                <a:solidFill>
                  <a:srgbClr val="2F2F37"/>
                </a:solidFill>
              </a:rPr>
              <a:t>permissões</a:t>
            </a:r>
            <a:pPr indent="0" marL="0">
              <a:buNone/>
            </a:pPr>
            <a:r>
              <a:rPr lang="en-US" sz="1500" dirty="0">
                <a:solidFill>
                  <a:srgbClr val="2F2F37"/>
                </a:solidFill>
              </a:rPr>
              <a:t> e usar câmera, galeria, localização e notificações.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48640" y="3931920"/>
            <a:ext cx="5408676" cy="2148840"/>
          </a:xfrm>
          <a:prstGeom prst="roundRect">
            <a:avLst>
              <a:gd name="adj" fmla="val 425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49808" y="413308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" y="4246245"/>
            <a:ext cx="276606" cy="27660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4096512"/>
            <a:ext cx="4357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24"/>
                </a:solidFill>
              </a:rPr>
              <a:t>Animações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1417320" y="4572000"/>
            <a:ext cx="43571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2F37"/>
                </a:solidFill>
              </a:rPr>
              <a:t>Dar </a:t>
            </a:r>
            <a:pPr indent="0" marL="0">
              <a:buNone/>
            </a:pPr>
            <a:r>
              <a:rPr lang="en-US" sz="1500" b="1" dirty="0">
                <a:solidFill>
                  <a:srgbClr val="2F2F37"/>
                </a:solidFill>
              </a:rPr>
              <a:t>feedback visual</a:t>
            </a:r>
            <a:pPr indent="0" marL="0">
              <a:buNone/>
            </a:pPr>
            <a:r>
              <a:rPr lang="en-US" sz="1500" dirty="0">
                <a:solidFill>
                  <a:srgbClr val="2F2F37"/>
                </a:solidFill>
              </a:rPr>
              <a:t> com </a:t>
            </a:r>
            <a:pPr indent="0" marL="0">
              <a:buNone/>
            </a:pPr>
            <a:r>
              <a:rPr lang="en-US" sz="15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Animated</a:t>
            </a:r>
            <a:pPr indent="0" marL="0">
              <a:buNone/>
            </a:pPr>
            <a:r>
              <a:rPr lang="en-US" sz="1500" dirty="0">
                <a:solidFill>
                  <a:srgbClr val="2F2F37"/>
                </a:solidFill>
              </a:rPr>
              <a:t> e Reanimated.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6231636" y="3931920"/>
            <a:ext cx="5408676" cy="2148840"/>
          </a:xfrm>
          <a:prstGeom prst="roundRect">
            <a:avLst>
              <a:gd name="adj" fmla="val 425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32804" y="413308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961" y="4246245"/>
            <a:ext cx="276606" cy="27660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00316" y="4096512"/>
            <a:ext cx="4357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24"/>
                </a:solidFill>
              </a:rPr>
              <a:t>Consumo de API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7100316" y="4572000"/>
            <a:ext cx="43571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500" dirty="0">
                <a:solidFill>
                  <a:srgbClr val="2F2F37"/>
                </a:solidFill>
              </a:rPr>
              <a:t>, verbos HTTP e os estados </a:t>
            </a:r>
            <a:pPr indent="0" marL="0">
              <a:buNone/>
            </a:pPr>
            <a:r>
              <a:rPr lang="en-US" sz="1500" b="1" dirty="0">
                <a:solidFill>
                  <a:srgbClr val="2F2F37"/>
                </a:solidFill>
              </a:rPr>
              <a:t>carregando, erro e sucesso</a:t>
            </a:r>
            <a:pPr indent="0" marL="0">
              <a:buNone/>
            </a:pPr>
            <a:r>
              <a:rPr lang="en-US" sz="1500" dirty="0">
                <a:solidFill>
                  <a:srgbClr val="2F2F37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3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22960" y="15544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A6ACE4"/>
                </a:solidFill>
              </a:rPr>
              <a:t>01</a:t>
            </a:r>
            <a:endParaRPr lang="en-US" sz="96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822960" y="29718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Expo Router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822960" y="425196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6ACE4"/>
                </a:solidFill>
              </a:rPr>
              <a:t>Navegação baseada em arquivos: o padrão atual dos novos projetos Expo.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132588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132588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71016" y="132588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1417320"/>
            <a:ext cx="3291840" cy="3291840"/>
          </a:xfrm>
          <a:prstGeom prst="ellipse">
            <a:avLst/>
          </a:prstGeom>
          <a:solidFill>
            <a:srgbClr val="2F2F37"/>
          </a:solidFill>
          <a:ln w="12700">
            <a:solidFill>
              <a:srgbClr val="2F2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1828800"/>
            <a:ext cx="2468880" cy="246888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377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React Navigation x Expo Router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1927098"/>
            <a:ext cx="352044" cy="3520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E24"/>
                </a:solidFill>
              </a:rPr>
              <a:t>React Navigation (Aula 07)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69748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F2F37"/>
                </a:solidFill>
              </a:rPr>
              <a:t>Rotas </a:t>
            </a:r>
            <a:pPr indent="0" marL="0">
              <a:buNone/>
            </a:pPr>
            <a:r>
              <a:rPr lang="en-US" sz="1600" b="1" dirty="0">
                <a:solidFill>
                  <a:srgbClr val="2F2F37"/>
                </a:solidFill>
              </a:rPr>
              <a:t>declaradas em código</a:t>
            </a:r>
            <a:pPr indent="0" marL="0">
              <a:buNone/>
            </a:pPr>
            <a:r>
              <a:rPr lang="en-US" sz="1600" dirty="0">
                <a:solidFill>
                  <a:srgbClr val="2F2F37"/>
                </a:solidFill>
              </a:rPr>
              <a:t> com </a:t>
            </a:r>
            <a:pPr indent="0" marL="0">
              <a:buNone/>
            </a:pPr>
            <a:r>
              <a:rPr lang="en-US" sz="16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Stack.Screen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NavigationContainer</a:t>
            </a:r>
            <a:pPr indent="0" marL="0">
              <a:buNone/>
            </a:pPr>
            <a:r>
              <a:rPr lang="en-US" sz="1600" dirty="0">
                <a:solidFill>
                  <a:srgbClr val="2F2F37"/>
                </a:solidFill>
              </a:rPr>
              <a:t> criado manualmente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navigation.navigate('Nome', params)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F2F37"/>
                </a:solidFill>
              </a:rPr>
              <a:t>Links externos (deep links) configurados à mão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231636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rgbClr val="EBECF9"/>
          </a:solidFill>
          <a:ln w="19050">
            <a:solidFill>
              <a:srgbClr val="4757B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505956" y="1783080"/>
            <a:ext cx="640080" cy="64008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974" y="1927098"/>
            <a:ext cx="352044" cy="3520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32891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E24"/>
                </a:solidFill>
              </a:rPr>
              <a:t>Expo Router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6551676" y="269748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F2F37"/>
                </a:solidFill>
              </a:rPr>
              <a:t>Cada </a:t>
            </a:r>
            <a:pPr indent="0" marL="0">
              <a:buNone/>
            </a:pPr>
            <a:r>
              <a:rPr lang="en-US" sz="1600" b="1" dirty="0">
                <a:solidFill>
                  <a:srgbClr val="2F2F37"/>
                </a:solidFill>
              </a:rPr>
              <a:t>arquivo</a:t>
            </a:r>
            <a:pPr indent="0" marL="0">
              <a:buNone/>
            </a:pPr>
            <a:r>
              <a:rPr lang="en-US" sz="1600" dirty="0">
                <a:solidFill>
                  <a:srgbClr val="2F2F37"/>
                </a:solidFill>
              </a:rPr>
              <a:t> em </a:t>
            </a:r>
            <a:pPr indent="0" marL="0">
              <a:buNone/>
            </a:pPr>
            <a:r>
              <a:rPr lang="en-US" sz="16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pPr indent="0" marL="0">
              <a:buNone/>
            </a:pPr>
            <a:r>
              <a:rPr lang="en-US" sz="1600" dirty="0">
                <a:solidFill>
                  <a:srgbClr val="2F2F37"/>
                </a:solidFill>
              </a:rPr>
              <a:t> vira uma rota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F2F37"/>
                </a:solidFill>
              </a:rPr>
              <a:t>Container e deep links </a:t>
            </a:r>
            <a:pPr indent="0" marL="0">
              <a:buNone/>
            </a:pPr>
            <a:r>
              <a:rPr lang="en-US" sz="1600" b="1" dirty="0">
                <a:solidFill>
                  <a:srgbClr val="2F2F37"/>
                </a:solidFill>
              </a:rPr>
              <a:t>automáticos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router.push('/caminho')</a:t>
            </a:r>
            <a:pPr indent="0" marL="0">
              <a:buNone/>
            </a:pPr>
            <a:r>
              <a:rPr lang="en-US" sz="1600" dirty="0">
                <a:solidFill>
                  <a:srgbClr val="2F2F37"/>
                </a:solidFill>
              </a:rPr>
              <a:t> e </a:t>
            </a:r>
            <a:pPr indent="0" marL="0">
              <a:buNone/>
            </a:pPr>
            <a:r>
              <a:rPr lang="en-US" sz="16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href&gt;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F2F37"/>
                </a:solidFill>
              </a:rPr>
              <a:t>Mesmos navegadores: </a:t>
            </a:r>
            <a:pPr indent="0" marL="0">
              <a:buNone/>
            </a:pPr>
            <a:r>
              <a:rPr lang="en-US" sz="16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pPr indent="0" marL="0">
              <a:buNone/>
            </a:pPr>
            <a:r>
              <a:rPr lang="en-US" sz="1600" dirty="0">
                <a:solidFill>
                  <a:srgbClr val="2F2F37"/>
                </a:solidFill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Tabs</a:t>
            </a:r>
            <a:pPr indent="0" marL="0">
              <a:buNone/>
            </a:pPr>
            <a:r>
              <a:rPr lang="en-US" sz="1600" dirty="0">
                <a:solidFill>
                  <a:srgbClr val="2F2F37"/>
                </a:solidFill>
              </a:rPr>
              <a:t>, modal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48640" y="5623560"/>
            <a:ext cx="10817352" cy="502920"/>
          </a:xfrm>
          <a:prstGeom prst="roundRect">
            <a:avLst>
              <a:gd name="adj" fmla="val 1454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72414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97280" y="5623560"/>
            <a:ext cx="10131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O Expo Router é uma camada de </a:t>
            </a:r>
            <a:pPr indent="0" marL="0">
              <a:buNone/>
            </a:pPr>
            <a:r>
              <a:rPr lang="en-US" sz="1350" b="1" dirty="0">
                <a:solidFill>
                  <a:srgbClr val="2F2F37"/>
                </a:solidFill>
              </a:rPr>
              <a:t>convenções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sobre o React Navigation: tudo o que vimos na Aula 07 continua valendo.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As rotas nascem da estrutura de pastas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48640" y="1508760"/>
            <a:ext cx="393192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49808" y="170992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1823085"/>
            <a:ext cx="276606" cy="27660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16733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_layout.js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148840"/>
            <a:ext cx="288036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Define o </a:t>
            </a:r>
            <a:pPr indent="0" marL="0">
              <a:buNone/>
            </a:pPr>
            <a:r>
              <a:rPr lang="en-US" sz="1350" b="1" dirty="0">
                <a:solidFill>
                  <a:srgbClr val="2F2F37"/>
                </a:solidFill>
              </a:rPr>
              <a:t>navegador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daquela pasta (Stack, Tabs). Não é uma tela.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115056"/>
            <a:ext cx="393192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49808" y="3316224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5" y="3429381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32796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(grupo)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417320" y="3755136"/>
            <a:ext cx="288036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Pasta entre parênteses </a:t>
            </a:r>
            <a:pPr indent="0" marL="0">
              <a:buNone/>
            </a:pPr>
            <a:r>
              <a:rPr lang="en-US" sz="1350" b="1" dirty="0">
                <a:solidFill>
                  <a:srgbClr val="2F2F37"/>
                </a:solidFill>
              </a:rPr>
              <a:t>organiza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sem aparecer na URL.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4721352"/>
            <a:ext cx="393192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749808" y="4922520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" y="5035677"/>
            <a:ext cx="276606" cy="27660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488594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[id].js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417320" y="5361432"/>
            <a:ext cx="288036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Rota dinâmica: o trecho da URL vira parâmetro. store/ e services/ completam o esqueleto.</a:t>
            </a:r>
            <a:pPr indent="0" marL="0">
              <a:buNone/>
            </a:pPr>
            <a:r>
              <a:rPr lang="en-US" sz="1350" b="1" dirty="0">
                <a:solidFill>
                  <a:srgbClr val="2F2F37"/>
                </a:solidFill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754880" y="1508760"/>
            <a:ext cx="6885432" cy="4617720"/>
          </a:xfrm>
          <a:prstGeom prst="roundRect">
            <a:avLst>
              <a:gd name="adj" fmla="val 2376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983480" y="1600200"/>
            <a:ext cx="5788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campus-go/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10954512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11119104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11283696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27" name="Text 21"/>
          <p:cNvSpPr txBox="1"/>
          <p:nvPr/>
        </p:nvSpPr>
        <p:spPr>
          <a:xfrm>
            <a:off x="4983480" y="1965960"/>
            <a:ext cx="642823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campus-go/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app/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_layout.js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(tabs)/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task/[id].js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new-task.js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store/   expenses + tasks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services/ media, location, api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hooks/ components/ styles/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  babel.config.js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package.json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6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Criando o projeto CampusGo com Expo Router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48640" y="1508760"/>
            <a:ext cx="11091672" cy="2331720"/>
          </a:xfrm>
          <a:prstGeom prst="roundRect">
            <a:avLst>
              <a:gd name="adj" fmla="val 4706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77240" y="160020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954512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1119104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1283696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77240" y="1965960"/>
            <a:ext cx="106344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Projeto em branco (mesmo template da Aula 03)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create-expo-app@latest campus-go --template blank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campus-go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Expo Router e dependências compatíveis com o SDK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expo install expo-router react-native-safe-area-context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expo install react-native-screens expo-linking expo-constants expo-status-bar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4114800"/>
            <a:ext cx="3514344" cy="2011680"/>
          </a:xfrm>
          <a:prstGeom prst="roundRect">
            <a:avLst>
              <a:gd name="adj" fmla="val 5455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777240" y="4206240"/>
            <a:ext cx="2417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77184" y="429768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3541776" y="429768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3706368" y="429768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777240" y="457200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"main"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"expo-router/entry"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337304" y="4114800"/>
            <a:ext cx="3514344" cy="2011680"/>
          </a:xfrm>
          <a:prstGeom prst="roundRect">
            <a:avLst>
              <a:gd name="adj" fmla="val 5455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565904" y="4206240"/>
            <a:ext cx="2417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165848" y="429768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7330440" y="429768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7495032" y="429768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4565904" y="457200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"expo"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"scheme"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"campusgo"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125968" y="4114800"/>
            <a:ext cx="3240024" cy="2011680"/>
          </a:xfrm>
          <a:prstGeom prst="roundRect">
            <a:avLst>
              <a:gd name="adj" fmla="val 545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8354568" y="4343400"/>
            <a:ext cx="2828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1E24"/>
                </a:solidFill>
              </a:rPr>
              <a:t>Apague App.js e index.js</a:t>
            </a:r>
            <a:pPr indent="0" marL="0">
              <a:buNone/>
            </a:pPr>
            <a:r>
              <a:rPr lang="en-US" sz="14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450" dirty="0">
                <a:solidFill>
                  <a:srgbClr val="1E1E24"/>
                </a:solidFill>
              </a:rPr>
              <a:t/>
            </a:r>
            <a:pPr indent="0" marL="0">
              <a:buNone/>
            </a:pPr>
            <a:r>
              <a:rPr lang="en-US" sz="14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1E24"/>
                </a:solidFill>
              </a:rPr>
              <a:t>Crie app/_layout.js</a:t>
            </a:r>
            <a:pPr indent="0" marL="0">
              <a:buNone/>
            </a:pPr>
            <a:r>
              <a:rPr lang="en-US" sz="14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1E24"/>
                </a:solidFill>
              </a:rPr>
              <a:t>No próximo slide: deps nativas e Babel</a:t>
            </a:r>
            <a:endParaRPr lang="en-US" sz="1450" dirty="0"/>
          </a:p>
          <a:p>
            <a:r>
              <a:t>Limpe o cache ao iniciar:</a:t>
            </a:r>
          </a:p>
        </p:txBody>
      </p:sp>
      <p:sp>
        <p:nvSpPr>
          <p:cNvPr id="27" name="Text 24"/>
          <p:cNvSpPr txBox="1"/>
          <p:nvPr/>
        </p:nvSpPr>
        <p:spPr>
          <a:xfrm>
            <a:off x="8537448" y="5532120"/>
            <a:ext cx="2691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expo start --clear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r>
              <a:t>7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Dependências do CampusGo (alinhadas ao projeto)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48640" y="1508760"/>
            <a:ext cx="11091672" cy="2331720"/>
          </a:xfrm>
          <a:prstGeom prst="roundRect">
            <a:avLst>
              <a:gd name="adj" fmla="val 4706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77240" y="160020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954512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1119104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1283696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77240" y="1965960"/>
            <a:ext cx="106344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Após o Expo Router (slide anterior)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expo install @react-native-async-storage/async-storage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expo install expo-image-picker expo-location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expo install expo-notifications expo-haptics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expo install react-native-reanimated react-native-worklets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expo install react-native-gesture-handler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r>
              <a:t># Babel (raiz do projeto)</a:t>
            </a:r>
          </a:p>
          <a:p>
            <a:r>
              <a:t># babel.config.js → presets: ["babel-preset-expo"]</a:t>
            </a:r>
          </a:p>
          <a:p>
            <a:r>
              <a:t>npm install --save-dev babel-preset-expo</a:t>
            </a:r>
          </a:p>
        </p:txBody>
      </p:sp>
      <p:sp>
        <p:nvSpPr>
          <p:cNvPr id="13" name="Shape 10"/>
          <p:cNvSpPr/>
          <p:nvPr/>
        </p:nvSpPr>
        <p:spPr>
          <a:xfrm>
            <a:off x="548640" y="4114800"/>
            <a:ext cx="3514344" cy="2011680"/>
          </a:xfrm>
          <a:prstGeom prst="roundRect">
            <a:avLst>
              <a:gd name="adj" fmla="val 5455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777240" y="4206240"/>
            <a:ext cx="2417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babel.config.js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77184" y="429768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3541776" y="429768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3706368" y="429768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777240" y="457200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module.exports = function (api)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api.cache(true);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presets: ["babel-preset-expo"] };</a:t>
            </a:r>
            <a:endParaRPr lang="en-US" sz="1400" dirty="0"/>
          </a:p>
          <a:p>
            <a:r>
              <a:t>};</a:t>
            </a:r>
          </a:p>
        </p:txBody>
      </p:sp>
      <p:sp>
        <p:nvSpPr>
          <p:cNvPr id="19" name="Shape 16"/>
          <p:cNvSpPr/>
          <p:nvPr/>
        </p:nvSpPr>
        <p:spPr>
          <a:xfrm>
            <a:off x="4337304" y="4114800"/>
            <a:ext cx="3514344" cy="2011680"/>
          </a:xfrm>
          <a:prstGeom prst="roundRect">
            <a:avLst>
              <a:gd name="adj" fmla="val 5455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565904" y="4206240"/>
            <a:ext cx="2417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165848" y="429768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7330440" y="429768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7495032" y="429768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4565904" y="457200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EXPO_PUBLIC_API_URL=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https://jsonplaceholder.typicode.com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Versionar só o .env.example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125968" y="4114800"/>
            <a:ext cx="3240024" cy="2011680"/>
          </a:xfrm>
          <a:prstGeom prst="roundRect">
            <a:avLst>
              <a:gd name="adj" fmla="val 545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8354568" y="4343400"/>
            <a:ext cx="2828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1E24"/>
                </a:solidFill>
              </a:rPr>
              <a:t>Crie babel.config.js</a:t>
            </a:r>
            <a:pPr indent="0" marL="0">
              <a:buNone/>
            </a:pPr>
            <a:r>
              <a:rPr lang="en-US" sz="14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450" dirty="0">
                <a:solidFill>
                  <a:srgbClr val="1E1E24"/>
                </a:solidFill>
              </a:rPr>
              <a:t/>
            </a:r>
            <a:pPr indent="0" marL="0">
              <a:buNone/>
            </a:pPr>
            <a:r>
              <a:rPr lang="en-US" sz="14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1E24"/>
                </a:solidFill>
              </a:rPr>
              <a:t>Copie .env.example → .env</a:t>
            </a:r>
            <a:pPr indent="0" marL="0">
              <a:buNone/>
            </a:pPr>
            <a:r>
              <a:rPr lang="en-US" sz="14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1E24"/>
                </a:solidFill>
              </a:rPr>
              <a:t>Reinicie com cache limpo:</a:t>
            </a:r>
            <a:endParaRPr lang="en-US" sz="1450" dirty="0"/>
          </a:p>
        </p:txBody>
      </p:sp>
      <p:sp>
        <p:nvSpPr>
          <p:cNvPr id="27" name="Text 24"/>
          <p:cNvSpPr txBox="1"/>
          <p:nvPr/>
        </p:nvSpPr>
        <p:spPr>
          <a:xfrm>
            <a:off x="8537448" y="5532120"/>
            <a:ext cx="2691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expo start --clear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r>
              <a:t>8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Layout raiz: a pilha principal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0992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1823085"/>
            <a:ext cx="276606" cy="27660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673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Equivalência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148840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Substitui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NavigationContainer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+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Stack.Navigator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da Aula 07.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115056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" y="3316224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5" y="3429381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7320" y="3279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name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417320" y="3755136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É o </a:t>
            </a:r>
            <a:pPr indent="0" marL="0">
              <a:buNone/>
            </a:pPr>
            <a:r>
              <a:rPr lang="en-US" sz="1350" b="1" dirty="0">
                <a:solidFill>
                  <a:srgbClr val="2F2F37"/>
                </a:solidFill>
              </a:rPr>
              <a:t>caminho do arquivo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sem extensão: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task/[id]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4721352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9808" y="4922520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" y="5035677"/>
            <a:ext cx="276606" cy="27660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48859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Providers globais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417320" y="5361432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Contexto e tema também ficam aqui, envolvendo o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4617720" y="1508760"/>
            <a:ext cx="7022592" cy="4617720"/>
          </a:xfrm>
          <a:prstGeom prst="roundRect">
            <a:avLst>
              <a:gd name="adj" fmla="val 2376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4846320" y="160020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app/_layout.js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10954512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1119104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283696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846320" y="1965960"/>
            <a:ext cx="65653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'expo-router'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SafeAreaProvider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'react-native-safe-area-context'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 Layout raiz: pilha principal do app. */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RootLayout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&lt;SafeAreaProvider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&lt;Stack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screenOptions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headerTintColor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'#4757B8'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&lt;Stack.Screen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"(tabs)"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headerShown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&lt;Stack.Screen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"task/[id]"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'Tarefa'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&lt;Stack.Screen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"new-task"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'modal'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'Nova tarefa'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&lt;/Stack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&lt;/SafeAreaProvider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r>
              <a:t>9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Abas com Tabs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508760"/>
            <a:ext cx="7452360" cy="4617720"/>
          </a:xfrm>
          <a:prstGeom prst="roundRect">
            <a:avLst>
              <a:gd name="adj" fmla="val 2376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1600200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app/(tabs)/_layout.js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79792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44384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1965960"/>
            <a:ext cx="6995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'expo-router'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Ionicons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'@expo/vector-icons'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 Gera a função de ícone de cada aba. */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tabIcon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&lt;Ionicons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TabsLayout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screenOptions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tabBarActiveTintColor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'#4757B8'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&lt;Tabs.Screen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"index"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'Início'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tabBarIcon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tabIcon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'home'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&lt;Tabs.Screen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"tasks"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'Tarefas'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tabBarIcon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tabIcon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'checkbox'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&lt;Tabs.Screen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"wallet"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'Bolso'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tabBarIcon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tabIcon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'wallet'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&lt;Tabs.Screen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"profile"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'Perfil'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tabBarIcon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tabIcon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'person'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956915" y="1460297"/>
            <a:ext cx="2017950" cy="4363745"/>
          </a:xfrm>
          <a:prstGeom prst="roundRect">
            <a:avLst>
              <a:gd name="adj" fmla="val 113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56915" y="1460297"/>
            <a:ext cx="2017950" cy="4363745"/>
          </a:xfrm>
          <a:prstGeom prst="rect">
            <a:avLst>
              <a:gd name="adj" fmla="val 2595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956915" y="1460297"/>
            <a:ext cx="2017950" cy="652445"/>
          </a:xfrm>
          <a:prstGeom prst="rect">
            <a:avLst>
              <a:gd name="adj" fmla="val 8027"/>
            </a:avLst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96569" y="1746151"/>
            <a:ext cx="1389508" cy="31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CampusGo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096569" y="2269853"/>
            <a:ext cx="1738643" cy="741911"/>
          </a:xfrm>
          <a:prstGeom prst="roundRect">
            <a:avLst>
              <a:gd name="adj" fmla="val 11765"/>
            </a:avLst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218766" y="2357136"/>
            <a:ext cx="1564076" cy="27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Olá, Maria!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218766" y="2653901"/>
            <a:ext cx="1564076" cy="244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de Software · Noturno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9096569" y="3160146"/>
            <a:ext cx="1738643" cy="244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2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tarefas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096569" y="3456910"/>
            <a:ext cx="1738643" cy="43641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3853" y="3561650"/>
            <a:ext cx="226937" cy="226937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489346" y="3483095"/>
            <a:ext cx="1258583" cy="226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PDM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9489346" y="3683847"/>
            <a:ext cx="1258583" cy="17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19h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9096569" y="3980612"/>
            <a:ext cx="1738643" cy="43641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3853" y="4085352"/>
            <a:ext cx="226937" cy="226937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489346" y="4006797"/>
            <a:ext cx="1258583" cy="226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de Cálculo</a:t>
            </a:r>
            <a:endParaRPr lang="en-US" sz="850" dirty="0"/>
          </a:p>
        </p:txBody>
      </p:sp>
      <p:sp>
        <p:nvSpPr>
          <p:cNvPr id="28" name="Text 23"/>
          <p:cNvSpPr txBox="1"/>
          <p:nvPr/>
        </p:nvSpPr>
        <p:spPr>
          <a:xfrm>
            <a:off x="9489346" y="4207549"/>
            <a:ext cx="1258583" cy="17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Amanhã</a:t>
            </a:r>
            <a:endParaRPr lang="en-US" sz="750" dirty="0"/>
          </a:p>
        </p:txBody>
      </p:sp>
      <p:sp>
        <p:nvSpPr>
          <p:cNvPr id="29" name="Shape 24"/>
          <p:cNvSpPr/>
          <p:nvPr/>
        </p:nvSpPr>
        <p:spPr>
          <a:xfrm>
            <a:off x="9096569" y="4504314"/>
            <a:ext cx="1738643" cy="43641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3853" y="4609054"/>
            <a:ext cx="226937" cy="226937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489346" y="4530499"/>
            <a:ext cx="1258583" cy="226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CampusGo</a:t>
            </a:r>
            <a:endParaRPr lang="en-US" sz="850" dirty="0"/>
          </a:p>
        </p:txBody>
      </p:sp>
      <p:sp>
        <p:nvSpPr>
          <p:cNvPr id="32" name="Text 26"/>
          <p:cNvSpPr txBox="1"/>
          <p:nvPr/>
        </p:nvSpPr>
        <p:spPr>
          <a:xfrm>
            <a:off x="9489346" y="4731251"/>
            <a:ext cx="1258583" cy="17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Sexta</a:t>
            </a:r>
            <a:endParaRPr lang="en-US" sz="750" dirty="0"/>
          </a:p>
        </p:txBody>
      </p:sp>
      <p:sp>
        <p:nvSpPr>
          <p:cNvPr id="33" name="Shape 27"/>
          <p:cNvSpPr/>
          <p:nvPr/>
        </p:nvSpPr>
        <p:spPr>
          <a:xfrm>
            <a:off x="8956915" y="5213057"/>
            <a:ext cx="2017950" cy="610985"/>
          </a:xfrm>
          <a:prstGeom prst="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4EE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4419" y="5282884"/>
            <a:ext cx="209481" cy="209481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956915" y="5501093"/>
            <a:ext cx="504488" cy="17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7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7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8906" y="5282884"/>
            <a:ext cx="209481" cy="209481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461403" y="5501093"/>
            <a:ext cx="504488" cy="17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endParaRPr lang="en-US" sz="7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3394" y="5282884"/>
            <a:ext cx="209481" cy="209481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9965891" y="5501093"/>
            <a:ext cx="504488" cy="17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Bolso</a:t>
            </a:r>
            <a:endParaRPr lang="en-US" sz="7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7882" y="5282884"/>
            <a:ext cx="209481" cy="209481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0470378" y="5501093"/>
            <a:ext cx="504488" cy="17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700" dirty="0"/>
          </a:p>
        </p:txBody>
      </p:sp>
      <p:pic>
        <p:nvPicPr>
          <p:cNvPr id="42" name="Image 7" descr="Moldura de celula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1325880"/>
            <a:ext cx="3172878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r>
              <a:t>10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Navegando entre rotas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4311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app/(tabs)/tasks.js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71516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36108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00700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965960"/>
            <a:ext cx="495147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'expo-router'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TasksScreen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"/new-task"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tarefa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&lt;/Link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"/task/42"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Abrir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tarefa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&lt;/Link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"Ver perfil"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onPress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'/profile'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&lt;/View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1636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60236" y="1600200"/>
            <a:ext cx="4311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app/task/[id].js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54512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19104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83696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60236" y="1965960"/>
            <a:ext cx="495147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useLocalSearchParams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'expo-router'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 Detalhe de uma tarefa a partir do id da URL. */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TaskDetails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useLocalSearchParams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Tarefa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ú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mero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&lt;/Text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"Voltar"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onPress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&lt;/View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Aula 07: navigation.navigate('Tarefa', { id: 42 })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Expo Router: router.push('/task/42')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596128"/>
            <a:ext cx="10817352" cy="502920"/>
          </a:xfrm>
          <a:prstGeom prst="roundRect">
            <a:avLst>
              <a:gd name="adj" fmla="val 1454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96712"/>
            <a:ext cx="301752" cy="301752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97280" y="5596128"/>
            <a:ext cx="10131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asChild&gt;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repassa a navegação para um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Pressable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próprio ·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router.replace()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troca a tela sem guardar histórico.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r>
              <a:t>11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O arquivo do modal (esqueleto)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48640" y="1508760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49808" y="170992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1823085"/>
            <a:ext cx="276606" cy="27660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1673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Arquivo = rota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148840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app/new-task.js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vira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/new-task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. O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presentation: 'modal'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fica no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_layout.js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115056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49808" y="3316224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5" y="3429381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3279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Fechar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417320" y="3755136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router.back()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desfaz a navegação. Não use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navigate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para fechar.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4721352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749808" y="4922520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" y="5035677"/>
            <a:ext cx="276606" cy="27660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48859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Quem abre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417320" y="5361432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Primeiro só o modal fecha. No próximo slide o formulário grava a tarefa.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17720" y="1508760"/>
            <a:ext cx="7022592" cy="4617720"/>
          </a:xfrm>
          <a:prstGeom prst="roundRect">
            <a:avLst>
              <a:gd name="adj" fmla="val 2376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846320" y="160020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app/new-task.js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10954512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11119104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11283696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27" name="Text 21"/>
          <p:cNvSpPr txBox="1"/>
          <p:nvPr/>
        </p:nvSpPr>
        <p:spPr>
          <a:xfrm>
            <a:off x="4846320" y="1965960"/>
            <a:ext cx="65653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'expo-router'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'react-native'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 Modal de nova tarefa. */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NewTaskScreen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tarefa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&lt;/Text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"Fechar"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onPress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&lt;/View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r>
              <a:t>12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Formulário no modal (continuidade da Aula 09)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48640" y="1508760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49808" y="170992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1823085"/>
            <a:ext cx="276606" cy="27660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1673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Validação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148840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Título com mínimo de 3 caracteres; descrição opcional.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115056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49808" y="3316224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5" y="3429381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3279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Salvar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417320" y="3755136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addTask(...) e depois router.back() fecha o modal.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4721352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749808" y="4922520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" y="5035677"/>
            <a:ext cx="276606" cy="27660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48859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Contexto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417320" y="5361432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useTasks() do store/tasks-context.js (AsyncStorage).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17720" y="1508760"/>
            <a:ext cx="7022592" cy="4617720"/>
          </a:xfrm>
          <a:prstGeom prst="roundRect">
            <a:avLst>
              <a:gd name="adj" fmla="val 2376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846320" y="160020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app/new-task.js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10954512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11119104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11283696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27" name="Text 21"/>
          <p:cNvSpPr txBox="1"/>
          <p:nvPr/>
        </p:nvSpPr>
        <p:spPr>
          <a:xfrm>
            <a:off x="4846320" y="1965960"/>
            <a:ext cx="65653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router } from 'expo-router';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useTasks } from '../store/tasks-context';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NewTaskScreen() 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addTask } = useTasks();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validate(title) → erros por campo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handleSave() {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addTask({ title, description });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router.back();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 /* TextInput + Salvar */ );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r>
              <a:t>13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Estado global das tarefas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48640" y="1508760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49808" y="170992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1823085"/>
            <a:ext cx="276606" cy="27660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1673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Mesmo padrão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148840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Igual ao expenses-context da Aula 09: reducer + AsyncStorage.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115056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49808" y="3316224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5" y="3429381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3279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Ações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417320" y="3755136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addTask, updateTask, deleteTask, toggleDone.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4721352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749808" y="4922520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" y="5035677"/>
            <a:ext cx="276606" cy="27660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48859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Provider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417320" y="5361432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Envolva o Stack em app/_layout.js com TasksContextProvider.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17720" y="1508760"/>
            <a:ext cx="7022592" cy="4617720"/>
          </a:xfrm>
          <a:prstGeom prst="roundRect">
            <a:avLst>
              <a:gd name="adj" fmla="val 2376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846320" y="160020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TasksContextProvider({ children }) {</a:t>
            </a:r>
            <a:endParaRPr lang="en-US" sz="1100" dirty="0"/>
          </a:p>
          <a:p>
            <a:r>
              <a:t>  const [tasks, dispatch] = useReducer(tasksReducer, []);</a:t>
            </a:r>
          </a:p>
          <a:p>
            <a:r>
              <a:t>  // ADD / UPDATE / DELETE / SET</a:t>
            </a:r>
          </a:p>
          <a:p>
            <a:r>
              <a:t>  // persiste em @campus-tasks</a:t>
            </a:r>
          </a:p>
          <a:p>
            <a:r>
              <a:t>  return (</a:t>
            </a:r>
          </a:p>
          <a:p>
            <a:r>
              <a:t>    &lt;TasksContext.Provider value={...}&gt;</a:t>
            </a:r>
          </a:p>
          <a:p>
            <a:r>
              <a:t>      {children}</a:t>
            </a:r>
          </a:p>
          <a:p>
            <a:r>
              <a:t>    &lt;/TasksContext.Provider&gt;</a:t>
            </a:r>
          </a:p>
          <a:p>
            <a:r>
              <a:t>  );</a:t>
            </a:r>
          </a:p>
          <a:p>
            <a:r>
              <a:t>}</a:t>
            </a:r>
          </a:p>
        </p:txBody>
      </p:sp>
      <p:sp>
        <p:nvSpPr>
          <p:cNvPr id="24" name="Shape 18"/>
          <p:cNvSpPr/>
          <p:nvPr/>
        </p:nvSpPr>
        <p:spPr>
          <a:xfrm>
            <a:off x="10954512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1119104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1283696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4846320" y="1965960"/>
            <a:ext cx="65653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'expo-router'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'react-native'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 Modal de nova tarefa. */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NewTaskScreen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tarefa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&lt;/Text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"Fechar"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onPress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&lt;/View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r>
              <a:t>14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Bolso + Providers (despesas e tarefas)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48640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77240" y="1600200"/>
            <a:ext cx="4311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app/_layout.js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71516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436108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600700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77240" y="1965960"/>
            <a:ext cx="495147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ExpensesContextProvider } from '../store/expenses-context';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TasksContextProvider } from '../store/tasks-context';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RootLayout()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&lt;ExpensesContextProvider&gt;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&lt;TasksContextProvider&gt;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&lt;Stack&gt;...&lt;/Stack&gt;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&lt;/TasksContextProvider&gt;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&lt;/ExpensesContextProvider&gt;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31636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460236" y="1600200"/>
            <a:ext cx="4311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app/(tabs)/wallet.js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0954512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1119104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1283696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460236" y="1965960"/>
            <a:ext cx="495147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'react-native'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useExpenses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'../../store/expenses-context'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WalletScreen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useExpenses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shareSummary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`Gastei R$ ${total.toFixed(2)}`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toFixed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&lt;/Text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"Compartilhar resumo"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onPress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shareSummary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&lt;/View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5596128"/>
            <a:ext cx="10817352" cy="502920"/>
          </a:xfrm>
          <a:prstGeom prst="roundRect">
            <a:avLst>
              <a:gd name="adj" fmla="val 1454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96712"/>
            <a:ext cx="301752" cy="30175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97280" y="5596128"/>
            <a:ext cx="10131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Copie expenses-context, crie tasks-context e envolva o Stack com os dois Providers.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r>
              <a:t>15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Atividade 1: Esqueleto do CampusGo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463040"/>
            <a:ext cx="10817352" cy="457200"/>
          </a:xfrm>
          <a:prstGeom prst="roundRect">
            <a:avLst>
              <a:gd name="adj" fmla="val 16000"/>
            </a:avLst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453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146304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Objetivo: quatro abas, rota dinâmica, modal e Bolso com despesas da Aula 09.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/>
            </a:r>
            <a:endParaRPr lang="en-US" sz="14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743200"/>
                <a:gridCol w="4526280"/>
                <a:gridCol w="3364992"/>
              </a:tblGrid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conferir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Crie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campus-go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com o template blank e instale o Expo Router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app abre depois de apagar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App.js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index.js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app/(tabs)/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Abas Início, Tarefas, Bolso e Perfil com ícones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barra inferior mostra as quatro abas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app/task/[id].js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Mostre o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que veio da URL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Abrir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/task/42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exibe “Tarefa número 42”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app/new-task.js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 sobe; depois troque Fechar pelo formulário (próxima atividade)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/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tela sobe como modal e o Fechar volta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store/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wallet.js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Copie o contexto e mostre o total com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reduce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Bolso mostra um valor, mesmo R$ 0,00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wallet.js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Botão Compartilhar resumo com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Share.share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Abre o menu de compartilhar do sistema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596128"/>
            <a:ext cx="10817352" cy="502920"/>
          </a:xfrm>
          <a:prstGeom prst="roundRect">
            <a:avLst>
              <a:gd name="adj" fmla="val 1454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96712"/>
            <a:ext cx="301752" cy="30175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5596128"/>
            <a:ext cx="10131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Criou ou renomeou arquivo em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? Rode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expo start --clear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r>
              <a:t>16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Atividade 1b: Formulário de tarefas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463040"/>
            <a:ext cx="10817352" cy="457200"/>
          </a:xfrm>
          <a:prstGeom prst="roundRect">
            <a:avLst>
              <a:gd name="adj" fmla="val 16000"/>
            </a:avLst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453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146304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Objetivo: gravar tarefas no Context, listar na aba e abrir o detalhe pela rota dinâmica.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/>
            </a:r>
            <a:endParaRPr lang="en-US" sz="14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743200"/>
                <a:gridCol w="4526280"/>
                <a:gridCol w="3364992"/>
              </a:tblGrid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conferir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store/tasks-context.js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+ useReducer + AsyncStorage @campus-tasks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Reiniciar o app mantém as tarefas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/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app/_layout.js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TasksContextProvider envolvendo o Stack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useTasks() funciona nas rotas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app/new-task.js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 com validação e addTask + router.back()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Salvar fecha o modal e a lista atualiza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app/(tabs)/tasks.js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FlatList das tarefas; Link /new-task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/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Cards aparecem após salvar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app/task/[id].js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/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Detalhe real pelo id da URL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/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Abrir um card mostra título e descrição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task/[id].js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Concluir (haptics), lembrete e excluir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/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+ lista atualizada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596128"/>
            <a:ext cx="10817352" cy="502920"/>
          </a:xfrm>
          <a:prstGeom prst="roundRect">
            <a:avLst>
              <a:gd name="adj" fmla="val 1454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96712"/>
            <a:ext cx="301752" cy="30175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5596128"/>
            <a:ext cx="10131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O esqueleto do modal (Atividade 1) vem antes; esta atividade completa o CRUD local.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r>
              <a:t>17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22960" y="15544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A6ACE4"/>
                </a:solidFill>
              </a:rPr>
              <a:t>02</a:t>
            </a:r>
            <a:endParaRPr lang="en-US" sz="96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822960" y="29718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Recursos nativos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822960" y="425196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6ACE4"/>
                </a:solidFill>
              </a:rPr>
              <a:t>Permissões, câmera e galeria, localização, notificações locais, vibração e compartilhamento.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132588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132588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71016" y="132588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1417320"/>
            <a:ext cx="3291840" cy="3291840"/>
          </a:xfrm>
          <a:prstGeom prst="ellipse">
            <a:avLst/>
          </a:prstGeom>
          <a:solidFill>
            <a:srgbClr val="2F2F37"/>
          </a:solidFill>
          <a:ln w="12700">
            <a:solidFill>
              <a:srgbClr val="2F2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1828800"/>
            <a:ext cx="2468880" cy="246888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377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Todo recurso sensível começa por uma permissão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965960"/>
            <a:ext cx="2194560" cy="1234440"/>
          </a:xfrm>
          <a:prstGeom prst="roundRect">
            <a:avLst>
              <a:gd name="adj" fmla="val 8889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0756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Usuário age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5328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toca 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1E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“Alterar foto”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88920" y="2578608"/>
            <a:ext cx="411480" cy="0"/>
          </a:xfrm>
          <a:prstGeom prst="line">
            <a:avLst/>
          </a:prstGeom>
          <a:noFill/>
          <a:ln w="31750">
            <a:solidFill>
              <a:srgbClr val="7983D7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246120" y="1965960"/>
            <a:ext cx="2743200" cy="1234440"/>
          </a:xfrm>
          <a:prstGeom prst="roundRect">
            <a:avLst>
              <a:gd name="adj" fmla="val 8889"/>
            </a:avLst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37560" y="20756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Pede a permissão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337560" y="25328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request...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PermissionsAsync()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35040" y="2578608"/>
            <a:ext cx="411480" cy="0"/>
          </a:xfrm>
          <a:prstGeom prst="line">
            <a:avLst/>
          </a:prstGeom>
          <a:noFill/>
          <a:ln w="31750">
            <a:solidFill>
              <a:srgbClr val="7983D7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492240" y="1783080"/>
            <a:ext cx="1600200" cy="1600200"/>
          </a:xfrm>
          <a:prstGeom prst="diamond">
            <a:avLst/>
          </a:prstGeom>
          <a:solidFill>
            <a:srgbClr val="A6ACE4"/>
          </a:solidFill>
          <a:ln w="12700">
            <a:solidFill>
              <a:srgbClr val="A6ACE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92240" y="178308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granted?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458200" y="1463040"/>
            <a:ext cx="3090672" cy="914400"/>
          </a:xfrm>
          <a:prstGeom prst="roundRect">
            <a:avLst>
              <a:gd name="adj" fmla="val 10000"/>
            </a:avLst>
          </a:prstGeom>
          <a:solidFill>
            <a:srgbClr val="E3F4EC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41080" y="1463040"/>
            <a:ext cx="281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4"/>
                </a:solidFill>
              </a:rPr>
              <a:t>Sim:</a:t>
            </a:r>
            <a:pPr indent="0" marL="0">
              <a:buNone/>
            </a:pPr>
            <a:r>
              <a:rPr lang="en-US" sz="1400" dirty="0">
                <a:solidFill>
                  <a:srgbClr val="1E1E24"/>
                </a:solidFill>
              </a:rPr>
              <a:t> usa o recurso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458200" y="2743200"/>
            <a:ext cx="3090672" cy="914400"/>
          </a:xfrm>
          <a:prstGeom prst="roundRect">
            <a:avLst>
              <a:gd name="adj" fmla="val 10000"/>
            </a:avLst>
          </a:prstGeom>
          <a:solidFill>
            <a:srgbClr val="FCE8E8"/>
          </a:solidFill>
          <a:ln w="12700">
            <a:solidFill>
              <a:srgbClr val="E31E2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41080" y="2743200"/>
            <a:ext cx="281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4"/>
                </a:solidFill>
              </a:rPr>
              <a:t>Não:</a:t>
            </a:r>
            <a:pPr indent="0" marL="0">
              <a:buNone/>
            </a:pPr>
            <a:r>
              <a:rPr lang="en-US" sz="1400" dirty="0">
                <a:solidFill>
                  <a:srgbClr val="1E1E24"/>
                </a:solidFill>
              </a:rPr>
              <a:t> explique o motivo e ofereça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Linking.openSettings()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 flipV="1">
            <a:off x="8092440" y="1920240"/>
            <a:ext cx="320040" cy="45720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8092440" y="2788920"/>
            <a:ext cx="320040" cy="411480"/>
          </a:xfrm>
          <a:prstGeom prst="line">
            <a:avLst/>
          </a:prstGeom>
          <a:noFill/>
          <a:ln w="25400">
            <a:solidFill>
              <a:srgbClr val="E31E24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548640" y="4251960"/>
            <a:ext cx="3514344" cy="1828800"/>
          </a:xfrm>
          <a:prstGeom prst="roundRect">
            <a:avLst>
              <a:gd name="adj" fmla="val 5000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9808" y="445312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4566285"/>
            <a:ext cx="276606" cy="27660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417320" y="4416552"/>
            <a:ext cx="2462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24"/>
                </a:solidFill>
              </a:rPr>
              <a:t>Peça na hora certa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1417320" y="4892040"/>
            <a:ext cx="2462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F37"/>
                </a:solidFill>
              </a:rPr>
              <a:t>Somente quando o usuário usa o recurso, com contexto claro.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4337304" y="4251960"/>
            <a:ext cx="3514344" cy="1828800"/>
          </a:xfrm>
          <a:prstGeom prst="roundRect">
            <a:avLst>
              <a:gd name="adj" fmla="val 5000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538472" y="445312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629" y="4566285"/>
            <a:ext cx="276606" cy="27660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205984" y="4416552"/>
            <a:ext cx="2462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24"/>
                </a:solidFill>
              </a:rPr>
              <a:t>Respeite o “não”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5205984" y="4892040"/>
            <a:ext cx="2462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F37"/>
                </a:solidFill>
              </a:rPr>
              <a:t>O app precisa continuar funcionando sem o recurso.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8125968" y="4251960"/>
            <a:ext cx="3514344" cy="1828800"/>
          </a:xfrm>
          <a:prstGeom prst="roundRect">
            <a:avLst>
              <a:gd name="adj" fmla="val 5000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327136" y="445312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293" y="4566285"/>
            <a:ext cx="276606" cy="276606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8994648" y="4416552"/>
            <a:ext cx="2462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24"/>
                </a:solidFill>
              </a:rPr>
              <a:t>O install registra o plugin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8994648" y="4892040"/>
            <a:ext cx="2462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expo install</a:t>
            </a:r>
            <a:pPr indent="0" marL="0">
              <a:buNone/>
            </a:pPr>
            <a:r>
              <a:rPr lang="en-US" sz="1400" dirty="0">
                <a:solidFill>
                  <a:srgbClr val="2F2F37"/>
                </a:solidFill>
              </a:rPr>
              <a:t> já configura o pacote. Não escreva a lista </a:t>
            </a:r>
            <a:pPr indent="0" marL="0">
              <a:buNone/>
            </a:pPr>
            <a:r>
              <a:rPr lang="en-US" sz="14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</a:t>
            </a:r>
            <a:pPr indent="0" marL="0">
              <a:buNone/>
            </a:pPr>
            <a:r>
              <a:rPr lang="en-US" sz="1400" dirty="0">
                <a:solidFill>
                  <a:srgbClr val="2F2F37"/>
                </a:solidFill>
              </a:rPr>
              <a:t> na mão.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19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Recursos nativos com Expo: o que roda no Expo Go?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081735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017520"/>
                <a:gridCol w="423367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Pacote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 no Expo Go?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Câmera e galeria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expo-image-picker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E9E6B"/>
                          </a:solidFill>
                        </a:rPr>
                        <a:t>Sim</a:t>
                      </a:r>
                      <a:endParaRPr lang="en-US" sz="14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Localização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expo-location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E9E6B"/>
                          </a:solidFill>
                        </a:rPr>
                        <a:t>Sim</a:t>
                      </a:r>
                      <a:endParaRPr lang="en-US" sz="14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Notificações locais (lembretes)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expo-notifications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E9E6B"/>
                          </a:solidFill>
                        </a:rPr>
                        <a:t>Sim</a:t>
                      </a:r>
                      <a:endParaRPr lang="en-US" sz="14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Notificações push remotas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expo-notifications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31E24"/>
                          </a:solidFill>
                        </a:rPr>
                        <a:t>Não no Android (SDK 53+): use development build</a:t>
                      </a:r>
                      <a:endParaRPr lang="en-US" sz="14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Vibração tátil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expo-haptics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E9E6B"/>
                          </a:solidFill>
                        </a:rPr>
                        <a:t>Sim</a:t>
                      </a:r>
                      <a:endParaRPr lang="en-US" sz="14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Compartilhar texto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Share (react-native)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E9E6B"/>
                          </a:solidFill>
                        </a:rPr>
                        <a:t>Sim, já incluso</a:t>
                      </a:r>
                      <a:endParaRPr lang="en-US" sz="14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486400"/>
            <a:ext cx="10817352" cy="502920"/>
          </a:xfrm>
          <a:prstGeom prst="roundRect">
            <a:avLst>
              <a:gd name="adj" fmla="val 1454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586984"/>
            <a:ext cx="301752" cy="30175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97280" y="5486400"/>
            <a:ext cx="10131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Instale sempre com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expo install &lt;pacote&gt;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: ele escolhe a versão compatível com o SDK do projeto.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20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Câmera e galeria com expo-image-picker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48640" y="1508760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49808" y="170992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1823085"/>
            <a:ext cx="276606" cy="27660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1673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Galeria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148840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Abre o seletor do sistema; </a:t>
            </a:r>
            <a:pPr indent="0" marL="0">
              <a:buNone/>
            </a:pPr>
            <a:r>
              <a:rPr lang="en-US" sz="1350" b="1" dirty="0">
                <a:solidFill>
                  <a:srgbClr val="2F2F37"/>
                </a:solidFill>
              </a:rPr>
              <a:t>não exige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permissão prévia.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115056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49808" y="3316224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5" y="3429381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3279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Câmera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417320" y="3755136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Exige </a:t>
            </a:r>
            <a:pPr indent="0" marL="0">
              <a:buNone/>
            </a:pPr>
            <a:r>
              <a:rPr lang="en-US" sz="1350" b="1" dirty="0">
                <a:solidFill>
                  <a:srgbClr val="2F2F37"/>
                </a:solidFill>
              </a:rPr>
              <a:t>permissão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antes de abrir (veja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takePhoto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).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4721352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749808" y="4922520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" y="5035677"/>
            <a:ext cx="276606" cy="27660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48859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Resultado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417320" y="5361432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Emulador sem galeria: use try/catch (ActivityNotFoundException).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17720" y="1508760"/>
            <a:ext cx="7022592" cy="4617720"/>
          </a:xfrm>
          <a:prstGeom prst="roundRect">
            <a:avLst>
              <a:gd name="adj" fmla="val 2376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846320" y="160020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services/media.js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10954512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11119104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11283696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27" name="Text 21"/>
          <p:cNvSpPr txBox="1"/>
          <p:nvPr/>
        </p:nvSpPr>
        <p:spPr>
          <a:xfrm>
            <a:off x="4846320" y="1965960"/>
            <a:ext cx="65653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pickImage() 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result = await ImagePicker.launchImageLibraryAsync({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mediaTypes: ['images'], quality: 0.7,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result.canceled ? null : result.assets[0].uri;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(error) 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Alert.alert('Recurso indisponível', 'Galeria não encontrada.');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null;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21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Usando a foto na tela de Perfil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508760"/>
            <a:ext cx="7452360" cy="3977640"/>
          </a:xfrm>
          <a:prstGeom prst="roundRect">
            <a:avLst>
              <a:gd name="adj" fmla="val 2759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1600200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app/(tabs)/profile.js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0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79792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44384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1965960"/>
            <a:ext cx="6995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'react'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Pressable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'react-native'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pickImage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'../../services/media'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ProfileScreen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photoUri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setPhotoUri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avatar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photoUri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photoUri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'../../assets/icon.png'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handleChangePhoto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pickImage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setPhotoUri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&lt;Pressable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onPress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handleChangePhoto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&lt;Image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avatar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avatar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Maria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Souza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&lt;/Text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&lt;/Pressable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956915" y="1460297"/>
            <a:ext cx="2017950" cy="4363745"/>
          </a:xfrm>
          <a:prstGeom prst="roundRect">
            <a:avLst>
              <a:gd name="adj" fmla="val 113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56915" y="1460297"/>
            <a:ext cx="2017950" cy="4363745"/>
          </a:xfrm>
          <a:prstGeom prst="rect">
            <a:avLst>
              <a:gd name="adj" fmla="val 2595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956915" y="1460297"/>
            <a:ext cx="2017950" cy="652445"/>
          </a:xfrm>
          <a:prstGeom prst="rect">
            <a:avLst>
              <a:gd name="adj" fmla="val 8027"/>
            </a:avLst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96569" y="1746151"/>
            <a:ext cx="1389508" cy="31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507651" y="2374593"/>
            <a:ext cx="916478" cy="916478"/>
          </a:xfrm>
          <a:prstGeom prst="ellipse">
            <a:avLst/>
          </a:prstGeom>
          <a:solidFill>
            <a:srgbClr val="A6ACE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9277" y="2557889"/>
            <a:ext cx="513228" cy="51322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0186718" y="3023983"/>
            <a:ext cx="296764" cy="296764"/>
          </a:xfrm>
          <a:prstGeom prst="ellipse">
            <a:avLst/>
          </a:prstGeom>
          <a:solidFill>
            <a:srgbClr val="4757B8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6071" y="3083336"/>
            <a:ext cx="178059" cy="17805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956915" y="3395811"/>
            <a:ext cx="2017950" cy="261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Souza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956915" y="3640206"/>
            <a:ext cx="2017950" cy="209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9096569" y="4006797"/>
            <a:ext cx="816951" cy="366591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310" y="4094081"/>
            <a:ext cx="192024" cy="19202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428247" y="4006797"/>
            <a:ext cx="450360" cy="36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Galeria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10018261" y="4006797"/>
            <a:ext cx="816951" cy="366591"/>
          </a:xfrm>
          <a:prstGeom prst="roundRect">
            <a:avLst>
              <a:gd name="adj" fmla="val 14286"/>
            </a:avLst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3001" y="4094081"/>
            <a:ext cx="192024" cy="19202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349939" y="4006797"/>
            <a:ext cx="450360" cy="36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9096569" y="4530499"/>
            <a:ext cx="1738643" cy="40150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3853" y="4626511"/>
            <a:ext cx="209481" cy="209481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489346" y="4530499"/>
            <a:ext cx="869321" cy="40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Lembretes</a:t>
            </a:r>
            <a:endParaRPr lang="en-US" sz="850" dirty="0"/>
          </a:p>
        </p:txBody>
      </p:sp>
      <p:sp>
        <p:nvSpPr>
          <p:cNvPr id="32" name="Shape 24"/>
          <p:cNvSpPr/>
          <p:nvPr/>
        </p:nvSpPr>
        <p:spPr>
          <a:xfrm>
            <a:off x="10363880" y="4635239"/>
            <a:ext cx="366591" cy="19202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10547176" y="4643967"/>
            <a:ext cx="174567" cy="1745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9096569" y="5019287"/>
            <a:ext cx="1738643" cy="40150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3853" y="5115299"/>
            <a:ext cx="209481" cy="209481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9489346" y="5019287"/>
            <a:ext cx="869321" cy="40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escuro</a:t>
            </a:r>
            <a:endParaRPr lang="en-US" sz="850" dirty="0"/>
          </a:p>
        </p:txBody>
      </p:sp>
      <p:sp>
        <p:nvSpPr>
          <p:cNvPr id="37" name="Shape 28"/>
          <p:cNvSpPr/>
          <p:nvPr/>
        </p:nvSpPr>
        <p:spPr>
          <a:xfrm>
            <a:off x="10363880" y="5124027"/>
            <a:ext cx="366591" cy="192024"/>
          </a:xfrm>
          <a:prstGeom prst="roundRect">
            <a:avLst>
              <a:gd name="adj" fmla="val 50000"/>
            </a:avLst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10372609" y="5132756"/>
            <a:ext cx="174567" cy="1745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8956915" y="5213057"/>
            <a:ext cx="2017950" cy="610985"/>
          </a:xfrm>
          <a:prstGeom prst="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4EE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4419" y="5282884"/>
            <a:ext cx="209481" cy="209481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8956915" y="5501093"/>
            <a:ext cx="504488" cy="17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70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8906" y="5282884"/>
            <a:ext cx="209481" cy="209481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9461403" y="5501093"/>
            <a:ext cx="504488" cy="17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endParaRPr lang="en-US" sz="700" dirty="0"/>
          </a:p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13394" y="5282884"/>
            <a:ext cx="209481" cy="209481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9965891" y="5501093"/>
            <a:ext cx="504488" cy="17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Bolso</a:t>
            </a:r>
            <a:endParaRPr lang="en-US" sz="700" dirty="0"/>
          </a:p>
        </p:txBody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7882" y="5282884"/>
            <a:ext cx="209481" cy="209481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10470378" y="5501093"/>
            <a:ext cx="504488" cy="17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7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700" dirty="0"/>
          </a:p>
        </p:txBody>
      </p:sp>
      <p:pic>
        <p:nvPicPr>
          <p:cNvPr id="48" name="Image 10" descr="Moldura de celula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6760" y="1325880"/>
            <a:ext cx="3172878" cy="4800600"/>
          </a:xfrm>
          <a:prstGeom prst="rect">
            <a:avLst/>
          </a:prstGeom>
        </p:spPr>
      </p:pic>
      <p:sp>
        <p:nvSpPr>
          <p:cNvPr id="49" name="Shape 35"/>
          <p:cNvSpPr/>
          <p:nvPr/>
        </p:nvSpPr>
        <p:spPr>
          <a:xfrm>
            <a:off x="548640" y="5596128"/>
            <a:ext cx="7452360" cy="502920"/>
          </a:xfrm>
          <a:prstGeom prst="roundRect">
            <a:avLst>
              <a:gd name="adj" fmla="val 1454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5696712"/>
            <a:ext cx="301752" cy="301752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1097280" y="559612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Sem tamanho a foto some: width 120, height 120, borderRadius 60.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22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A foto precisa continuar depois de fechar o app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1600200"/>
            <a:ext cx="4311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app/(tabs)/profile.js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71516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36108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00700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1965960"/>
            <a:ext cx="495147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'react'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AsyncStorage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'@react-native-async-storage/async-storage'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PHOTO_KEY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'@profile-photo'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AsyncStorage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getItem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PHOTO_KEY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setPhotoUri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31636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460236" y="1600200"/>
            <a:ext cx="4311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app/(tabs)/profile.js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0954512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19104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283696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60236" y="1965960"/>
            <a:ext cx="495147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handleChangePhoto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pickImage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setPhotoUri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AsyncStorage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setItem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PHOTO_KEY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5596128"/>
            <a:ext cx="10817352" cy="502920"/>
          </a:xfrm>
          <a:prstGeom prst="roundRect">
            <a:avLst>
              <a:gd name="adj" fmla="val 1454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96712"/>
            <a:ext cx="301752" cy="30175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97280" y="5596128"/>
            <a:ext cx="10131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Feche o app por completo e reabra: a mesma foto precisa aparecer sem escolher de novo.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23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Localização com expo-location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48640" y="1508760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49808" y="170992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1823085"/>
            <a:ext cx="276606" cy="27660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1673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Uso no CampusGo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148840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Check-in “Estudei na biblioteca” com endereço aproximado.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115056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49808" y="3316224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5" y="3429381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3279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Precisão x bateria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417320" y="3755136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Balanced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é suficiente para endereço;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gasta mais.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4721352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749808" y="4922520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" y="5035677"/>
            <a:ext cx="276606" cy="27660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48859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No emulador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417320" y="5361432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Defina a posição em </a:t>
            </a:r>
            <a:pPr indent="0" marL="0">
              <a:buNone/>
            </a:pPr>
            <a:r>
              <a:rPr lang="en-US" sz="1350" b="1" dirty="0">
                <a:solidFill>
                  <a:srgbClr val="2F2F37"/>
                </a:solidFill>
              </a:rPr>
              <a:t>Extended controls › Location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17720" y="1508760"/>
            <a:ext cx="7022592" cy="4617720"/>
          </a:xfrm>
          <a:prstGeom prst="roundRect">
            <a:avLst>
              <a:gd name="adj" fmla="val 2376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846320" y="160020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services/location.js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10954512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11119104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11283696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27" name="Text 21"/>
          <p:cNvSpPr txBox="1"/>
          <p:nvPr/>
        </p:nvSpPr>
        <p:spPr>
          <a:xfrm>
            <a:off x="4846320" y="1965960"/>
            <a:ext cx="65653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getCurrentPlace() 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{ status } = await Location.requestForegroundPermissionsAsync();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(status !== 'granted') return null;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{ coords } = await Location.getCurrentPositionAsync({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accuracy: Location.Accuracy.Balanced,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reverseGeocodeAsync → label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 latitude, longitude, label };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(error) 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null; // GPS ausente no emulador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24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Check-in na aba Tarefas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48640" y="1508760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49808" y="170992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1823085"/>
            <a:ext cx="276606" cy="27660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1673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Um botão, um texto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148840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Guarde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place.label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num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e mostre abaixo do botão.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115056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49808" y="3316224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5" y="3429381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3279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Sem permissão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417320" y="3755136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getCurrentPlace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devolve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. Avise com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e não quebre a tela.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4721352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749808" y="4922520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" y="5035677"/>
            <a:ext cx="276606" cy="27660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48859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Emulador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417320" y="5361432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Extended controls › Location. Sem isso, o endereço vem vazio.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17720" y="1508760"/>
            <a:ext cx="7022592" cy="4617720"/>
          </a:xfrm>
          <a:prstGeom prst="roundRect">
            <a:avLst>
              <a:gd name="adj" fmla="val 2376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846320" y="160020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app/(tabs)/tasks.js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10954512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11119104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11283696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  <p:txBody>
          <a:bodyPr/>
          <a:p/>
        </p:txBody>
      </p:sp>
      <p:sp>
        <p:nvSpPr>
          <p:cNvPr id="27" name="Text 21"/>
          <p:cNvSpPr txBox="1"/>
          <p:nvPr/>
        </p:nvSpPr>
        <p:spPr>
          <a:xfrm>
            <a:off x="4846320" y="1965960"/>
            <a:ext cx="65653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'react';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Alert, Button, Text, View } from 'react-native';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getCurrentPlace } from '../../services/location';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TasksScreen() {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[label, setLabel] = useState('Sem check-in');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function handleCheckIn() {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place = await getCurrentPlace();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(!place) {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Alert.alert('Sem localização', 'Permissão negada ou GPS indisponível.');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return;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setLabel(place.label);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&lt;View&gt;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title="Estudei aqui" onPress={handleCheckIn} /&gt;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&lt;Text&gt;{label}&lt;/Text&gt;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&lt;/View&gt;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25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Lembretes com notificações locais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1600200"/>
            <a:ext cx="4311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services/notifications.js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71516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36108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00700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1965960"/>
            <a:ext cx="495147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'expo-notifications'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'react-native'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setNotificationHandler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handleNotification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shouldShowBanner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shouldShowList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shouldPlaySound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shouldSetBadge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ensurePermission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'android'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setNotificationChannelAsync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'default'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'Lembretes'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AndroidImportance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requestPermissionsAsync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31636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460236" y="1600200"/>
            <a:ext cx="4311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services/notifications.js (cont.)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0954512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19104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283696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60236" y="1965960"/>
            <a:ext cx="495147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scheduleReminder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ensurePermission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TIME_INTERVAL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SchedulableTriggerInputTypes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scheduleNotificationAsync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'CampusGo'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`Não esqueça: ${title}`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TIME_INTERVAL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5596128"/>
            <a:ext cx="10817352" cy="502920"/>
          </a:xfrm>
          <a:prstGeom prst="roundRect">
            <a:avLst>
              <a:gd name="adj" fmla="val 1454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96712"/>
            <a:ext cx="301752" cy="30175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97280" y="5596128"/>
            <a:ext cx="10131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Na aba Tarefas: botão “Lembrar em 10 s” chama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scheduleReminder('Estudar', 10)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26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Vibração e compartilhamento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4311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expo-haptics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71516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36108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00700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965960"/>
            <a:ext cx="495147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Haptics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'expo-haptics'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'react-native'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 Confirma a conclusão com vibração de sucesso. */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handleComplete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Haptics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notificationAsync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Haptics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NotificationFeedbackType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'Tarefa concluída'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Toque leve em botões comuns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Haptics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impactAsync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Haptics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ImpactFeedbackStyle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31636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60236" y="1600200"/>
            <a:ext cx="4311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 (react-native)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54512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19104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83696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60236" y="1965960"/>
            <a:ext cx="495147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'react-native'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 Compartilha o resumo de gastos do mês. */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shareSummary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`Gastei R$ ${total.toFixed(2)} este mês.`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596128"/>
            <a:ext cx="10817352" cy="502920"/>
          </a:xfrm>
          <a:prstGeom prst="roundRect">
            <a:avLst>
              <a:gd name="adj" fmla="val 1454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96712"/>
            <a:ext cx="301752" cy="301752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97280" y="5596128"/>
            <a:ext cx="10131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Na aba Tarefas, o botão “Concluir” chama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handleComplete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. No emulador a vibração pode não acontecer; o Alert precisa abrir.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27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Atividade 2: CampusGo com recursos do celular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463040"/>
            <a:ext cx="10817352" cy="457200"/>
          </a:xfrm>
          <a:prstGeom prst="roundRect">
            <a:avLst>
              <a:gd name="adj" fmla="val 16000"/>
            </a:avLst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453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146304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Objetivo: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 foto que permanece, check-in, lembrete local e vibração ao concluir.</a:t>
            </a:r>
            <a:endParaRPr lang="en-US" sz="14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743200"/>
                <a:gridCol w="4526280"/>
                <a:gridCol w="3364992"/>
              </a:tblGrid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conferir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services/media.js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Galeria com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pickImage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câmera com permissão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Escolher uma imagem troca o avatar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profile.js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Salve a URI em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@profile-photo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leia ao abrir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Fechou e reabriu: a foto continua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takePhoto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negada, o Alert oferece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Linking.openSettings()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Negar a câmera não quebra a tela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tasks.js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Botão “Estudei aqui” mostra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place.label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texto vira a rua ou o aviso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notifications.js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“Lembrar em 10 s” chama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scheduleReminder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notificação local aparece cerca de 10 s depois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tasks.js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“Concluir” chama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Haptics.notificationAsync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Abre o Alert de tarefa concluída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596128"/>
            <a:ext cx="10817352" cy="502920"/>
          </a:xfrm>
          <a:prstGeom prst="roundRect">
            <a:avLst>
              <a:gd name="adj" fmla="val 1454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96712"/>
            <a:ext cx="301752" cy="30175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5596128"/>
            <a:ext cx="10131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Instale os pacotes nativos (slide de dependências). No emulador: veja o troubleshooting a seguir.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28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Troubleshooting no Expo Go / emulador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463040"/>
            <a:ext cx="10817352" cy="457200"/>
          </a:xfrm>
          <a:prstGeom prst="roundRect">
            <a:avLst>
              <a:gd name="adj" fmla="val 16000"/>
            </a:avLst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453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146304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Objetivo: o app continua útil mesmo quando galeria, GPS ou push falham no ambiente de aula.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/>
            </a:r>
            <a:endParaRPr lang="en-US" sz="14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743200"/>
                <a:gridCol w="4526280"/>
                <a:gridCol w="3364992"/>
              </a:tblGrid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conferir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Expo Go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do projeto = SDK do Expo Go (ex.: 58)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 oferece atualizar o app no emulador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Galeria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try/catch em pickImage (ActivityNotFoundException)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amigável; app não fica vermelho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controls › Location + try/catch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/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Estudei aqui mostra rua ou aviso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Push remoto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Indisponível no Expo Go Android (SDK 53+)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/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 só notificação local nesta aula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Babel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babel.config.js com babel-preset-expo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/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 sobe sem MODULE_NOT_FOUND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Rotas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Após criar arquivo em app/, --clear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/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rota aparece sem cache velho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596128"/>
            <a:ext cx="10817352" cy="502920"/>
          </a:xfrm>
          <a:prstGeom prst="roundRect">
            <a:avLst>
              <a:gd name="adj" fmla="val 1454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96712"/>
            <a:ext cx="301752" cy="30175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5596128"/>
            <a:ext cx="10131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Esses cuidados estão no campus-go de referência em praticas/pratica10/campus-go.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/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r>
              <a:t>29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22960" y="15544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A6ACE4"/>
                </a:solidFill>
              </a:rPr>
              <a:t>03</a:t>
            </a:r>
            <a:endParaRPr lang="en-US" sz="96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822960" y="29718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Animações de feedback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822960" y="425196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6ACE4"/>
                </a:solidFill>
              </a:rPr>
              <a:t>Animated (nativo do React Native) e Reanimated para interações mais ricas.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132588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132588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71016" y="132588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1417320"/>
            <a:ext cx="3291840" cy="3291840"/>
          </a:xfrm>
          <a:prstGeom prst="ellipse">
            <a:avLst/>
          </a:prstGeom>
          <a:solidFill>
            <a:srgbClr val="2F2F37"/>
          </a:solidFill>
          <a:ln w="12700">
            <a:solidFill>
              <a:srgbClr val="2F2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1828800"/>
            <a:ext cx="2468880" cy="246888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377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Animated e Reanimated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1600200"/>
            <a:ext cx="4311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components/FadeIn.js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71516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36108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00700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1965960"/>
            <a:ext cx="495147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useRef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'react'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Animated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'react-native'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FadeIn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children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useRef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Animated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Animated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timing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toValue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useNativeDriver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&lt;Animated.View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children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&lt;/Animated.View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31636" y="1508760"/>
            <a:ext cx="5408676" cy="3931920"/>
          </a:xfrm>
          <a:prstGeom prst="roundRect">
            <a:avLst>
              <a:gd name="adj" fmla="val 2791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460236" y="1600200"/>
            <a:ext cx="4311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components/DoneIcon.js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0954512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19104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283696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60236" y="1965960"/>
            <a:ext cx="495147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Pressable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'react-native'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Animated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useAnimatedStyle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useSharedValue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withSequence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withSpring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'react-native-reanimated'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DoneIcon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children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useSharedValue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useAnimatedStyle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bounce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withSequence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withSpring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withSpring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&lt;Pressable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onPress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bounce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&lt;Animated.View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children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&lt;/Animated.View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&lt;/Pressable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5596128"/>
            <a:ext cx="10817352" cy="502920"/>
          </a:xfrm>
          <a:prstGeom prst="roundRect">
            <a:avLst>
              <a:gd name="adj" fmla="val 1454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96712"/>
            <a:ext cx="301752" cy="30175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97280" y="5596128"/>
            <a:ext cx="10131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Para o Reanimated: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expo install react-native-reanimated react-native-worklets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e reinicie o Expo. O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FadeIn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não precisa de pacote extra.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31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22960" y="15544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A6ACE4"/>
                </a:solidFill>
              </a:rPr>
              <a:t>04</a:t>
            </a:r>
            <a:endParaRPr lang="en-US" sz="96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822960" y="29718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Consumindo uma API REST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822960" y="425196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6ACE4"/>
                </a:solidFill>
              </a:rPr>
              <a:t>Cliente e servidor, verbos HTTP, fetch com tratamento de erro e variáveis de ambiente.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132588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132588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71016" y="132588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1417320"/>
            <a:ext cx="3291840" cy="3291840"/>
          </a:xfrm>
          <a:prstGeom prst="ellipse">
            <a:avLst/>
          </a:prstGeom>
          <a:solidFill>
            <a:srgbClr val="2F2F37"/>
          </a:solidFill>
          <a:ln w="12700">
            <a:solidFill>
              <a:srgbClr val="2F2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1828800"/>
            <a:ext cx="2468880" cy="246888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377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Como o app conversa com um servidor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2011680"/>
            <a:ext cx="2651760" cy="2103120"/>
          </a:xfrm>
          <a:prstGeom prst="roundRect">
            <a:avLst>
              <a:gd name="adj" fmla="val 6522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63040" y="2240280"/>
            <a:ext cx="822960" cy="82296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206" y="2425446"/>
            <a:ext cx="452628" cy="4526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3154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1E24"/>
                </a:solidFill>
              </a:rPr>
              <a:t>App React Native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78"/>
                </a:solidFill>
              </a:rPr>
              <a:t>cliente: telas e estado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754880" y="2011680"/>
            <a:ext cx="2651760" cy="2103120"/>
          </a:xfrm>
          <a:prstGeom prst="roundRect">
            <a:avLst>
              <a:gd name="adj" fmla="val 6522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669280" y="2240280"/>
            <a:ext cx="822960" cy="82296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446" y="2425446"/>
            <a:ext cx="452628" cy="45262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754880" y="3154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1E24"/>
                </a:solidFill>
              </a:rPr>
              <a:t>API REST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489204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78"/>
                </a:solidFill>
              </a:rPr>
              <a:t>servidor: regras e segurança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961120" y="2011680"/>
            <a:ext cx="2651760" cy="2103120"/>
          </a:xfrm>
          <a:prstGeom prst="roundRect">
            <a:avLst>
              <a:gd name="adj" fmla="val 6522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875520" y="2240280"/>
            <a:ext cx="822960" cy="82296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0686" y="2425446"/>
            <a:ext cx="452628" cy="45262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961120" y="3154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1E24"/>
                </a:solidFill>
              </a:rPr>
              <a:t>Banco de dados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909828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78"/>
                </a:solidFill>
              </a:rPr>
              <a:t>Firestore, PostgreSQL...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3246120" y="2697480"/>
            <a:ext cx="1463040" cy="0"/>
          </a:xfrm>
          <a:prstGeom prst="line">
            <a:avLst/>
          </a:prstGeom>
          <a:noFill/>
          <a:ln w="31750">
            <a:solidFill>
              <a:srgbClr val="4757B8"/>
            </a:solidFill>
            <a:prstDash val="solid"/>
            <a:tailEnd type="triangle"/>
          </a:ln>
        </p:spPr>
      </p:sp>
      <p:sp>
        <p:nvSpPr>
          <p:cNvPr id="23" name="Text 17"/>
          <p:cNvSpPr txBox="1"/>
          <p:nvPr/>
        </p:nvSpPr>
        <p:spPr>
          <a:xfrm>
            <a:off x="3218688" y="2148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/expenses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 flipH="1">
            <a:off x="3246120" y="3474720"/>
            <a:ext cx="1463040" cy="0"/>
          </a:xfrm>
          <a:prstGeom prst="line">
            <a:avLst/>
          </a:prstGeom>
          <a:noFill/>
          <a:ln w="3175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25" name="Text 19"/>
          <p:cNvSpPr txBox="1"/>
          <p:nvPr/>
        </p:nvSpPr>
        <p:spPr>
          <a:xfrm>
            <a:off x="3218688" y="354787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 + JSON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7452360" y="2697480"/>
            <a:ext cx="1463040" cy="0"/>
          </a:xfrm>
          <a:prstGeom prst="line">
            <a:avLst/>
          </a:prstGeom>
          <a:noFill/>
          <a:ln w="31750">
            <a:solidFill>
              <a:srgbClr val="4757B8"/>
            </a:solidFill>
            <a:prstDash val="solid"/>
            <a:tailEnd type="triangle"/>
          </a:ln>
        </p:spPr>
      </p:sp>
      <p:sp>
        <p:nvSpPr>
          <p:cNvPr id="27" name="Text 21"/>
          <p:cNvSpPr txBox="1"/>
          <p:nvPr/>
        </p:nvSpPr>
        <p:spPr>
          <a:xfrm>
            <a:off x="7424928" y="2148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consulta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 flipH="1">
            <a:off x="7452360" y="3474720"/>
            <a:ext cx="1463040" cy="0"/>
          </a:xfrm>
          <a:prstGeom prst="line">
            <a:avLst/>
          </a:prstGeom>
          <a:noFill/>
          <a:ln w="3175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29" name="Text 23"/>
          <p:cNvSpPr txBox="1"/>
          <p:nvPr/>
        </p:nvSpPr>
        <p:spPr>
          <a:xfrm>
            <a:off x="7424928" y="354787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registros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48640" y="5029200"/>
            <a:ext cx="10817352" cy="502920"/>
          </a:xfrm>
          <a:prstGeom prst="roundRect">
            <a:avLst>
              <a:gd name="adj" fmla="val 1454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129784"/>
            <a:ext cx="301752" cy="30175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097280" y="5029200"/>
            <a:ext cx="10131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O app </a:t>
            </a:r>
            <a:pPr indent="0" marL="0">
              <a:buNone/>
            </a:pPr>
            <a:r>
              <a:rPr lang="en-US" sz="1350" b="1" dirty="0">
                <a:solidFill>
                  <a:srgbClr val="2F2F37"/>
                </a:solidFill>
              </a:rPr>
              <a:t>nunca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fala direto com o banco relacional: passa por uma API. O Firebase é um caso especial, com SDK e regras de segurança no lugar da API própria.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33</a:t>
            </a:r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Verbos HTTP, CRUD e o que vem na próxima aula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08173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3108960"/>
                <a:gridCol w="31363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Operação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Verbo HTTP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 de rota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Firestore (próxima aula)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/expenses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getDocs()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Detalhar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/expenses/42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getDoc()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/expenses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addDoc()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 / PATCH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/expenses/42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updateDoc()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/expenses/42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deleteDoc()</a:t>
                      </a:r>
                      <a:endParaRPr lang="en-US" sz="14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Códigos de status mais comuns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5074920"/>
            <a:ext cx="165049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2E9E6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5120640"/>
            <a:ext cx="16504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E6B"/>
                </a:solidFill>
              </a:rPr>
              <a:t>200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550408"/>
            <a:ext cx="16504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2F37"/>
                </a:solidFill>
              </a:rPr>
              <a:t>OK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382012" y="5074920"/>
            <a:ext cx="165049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2E9E6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382012" y="5120640"/>
            <a:ext cx="16504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E6B"/>
                </a:solidFill>
              </a:rPr>
              <a:t>201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2382012" y="5550408"/>
            <a:ext cx="16504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2F37"/>
                </a:solidFill>
              </a:rPr>
              <a:t>Created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215384" y="5074920"/>
            <a:ext cx="165049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215384" y="5120640"/>
            <a:ext cx="16504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</a:rPr>
              <a:t>400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4215384" y="5550408"/>
            <a:ext cx="16504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2F37"/>
                </a:solidFill>
              </a:rPr>
              <a:t>Bad Request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48756" y="5074920"/>
            <a:ext cx="165049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048756" y="5120640"/>
            <a:ext cx="16504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</a:rPr>
              <a:t>401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6048756" y="5550408"/>
            <a:ext cx="16504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2F37"/>
                </a:solidFill>
              </a:rPr>
              <a:t>Unauthorized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882128" y="5074920"/>
            <a:ext cx="165049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882128" y="5120640"/>
            <a:ext cx="16504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</a:rPr>
              <a:t>404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7882128" y="5550408"/>
            <a:ext cx="16504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2F37"/>
                </a:solidFill>
              </a:rPr>
              <a:t>Not Found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9715500" y="5074920"/>
            <a:ext cx="165049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E31E24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715500" y="5120640"/>
            <a:ext cx="16504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1E24"/>
                </a:solidFill>
              </a:rPr>
              <a:t>500</a:t>
            </a:r>
            <a:endParaRPr lang="en-US" sz="2000" dirty="0"/>
          </a:p>
        </p:txBody>
      </p:sp>
      <p:sp>
        <p:nvSpPr>
          <p:cNvPr id="26" name="Text 22"/>
          <p:cNvSpPr txBox="1"/>
          <p:nvPr/>
        </p:nvSpPr>
        <p:spPr>
          <a:xfrm>
            <a:off x="9715500" y="5550408"/>
            <a:ext cx="16504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2F37"/>
                </a:solidFill>
              </a:rPr>
              <a:t>Server Error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34</a:t>
            </a:r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Onde guardar a URL da API: variáveis de ambiente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50876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160020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 (raiz do projeto)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954512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119104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283696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196596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EXPO_PUBLIC_API_URL=https://jsonplaceholder.typicode.com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2880360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77240" y="2971800"/>
            <a:ext cx="9994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 qualquer arquivo JS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0954512" y="30632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19104" y="30632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283696" y="30632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33756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BASE_URL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EXPO_PUBLIC_API_URL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548640" y="4114800"/>
            <a:ext cx="3514344" cy="2011680"/>
          </a:xfrm>
          <a:prstGeom prst="roundRect">
            <a:avLst>
              <a:gd name="adj" fmla="val 454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9808" y="431596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4429125"/>
            <a:ext cx="276606" cy="27660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417320" y="4279392"/>
            <a:ext cx="2462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24"/>
                </a:solidFill>
              </a:rPr>
              <a:t>Prefixo obrigatório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417320" y="4754880"/>
            <a:ext cx="2462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F37"/>
                </a:solidFill>
              </a:rPr>
              <a:t>Só variáveis que começam com </a:t>
            </a:r>
            <a:pPr indent="0" marL="0">
              <a:buNone/>
            </a:pPr>
            <a:r>
              <a:rPr lang="en-US" sz="14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EXPO_PUBLIC_</a:t>
            </a:r>
            <a:pPr indent="0" marL="0">
              <a:buNone/>
            </a:pPr>
            <a:r>
              <a:rPr lang="en-US" sz="1400" dirty="0">
                <a:solidFill>
                  <a:srgbClr val="2F2F37"/>
                </a:solidFill>
              </a:rPr>
              <a:t> chegam ao código do app.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337304" y="4114800"/>
            <a:ext cx="3514344" cy="2011680"/>
          </a:xfrm>
          <a:prstGeom prst="roundRect">
            <a:avLst>
              <a:gd name="adj" fmla="val 454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38472" y="4315968"/>
            <a:ext cx="502920" cy="502920"/>
          </a:xfrm>
          <a:prstGeom prst="ellipse">
            <a:avLst/>
          </a:prstGeom>
          <a:solidFill>
            <a:srgbClr val="E31E24"/>
          </a:solidFill>
          <a:ln w="12700">
            <a:solidFill>
              <a:srgbClr val="E31E24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629" y="4429125"/>
            <a:ext cx="276606" cy="27660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205984" y="4279392"/>
            <a:ext cx="2462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24"/>
                </a:solidFill>
              </a:rPr>
              <a:t>Nada de segredos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5205984" y="4754880"/>
            <a:ext cx="2462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F37"/>
                </a:solidFill>
              </a:rPr>
              <a:t>O valor fica </a:t>
            </a:r>
            <a:pPr indent="0" marL="0">
              <a:buNone/>
            </a:pPr>
            <a:r>
              <a:rPr lang="en-US" sz="1400" b="1" dirty="0">
                <a:solidFill>
                  <a:srgbClr val="2F2F37"/>
                </a:solidFill>
              </a:rPr>
              <a:t>visível</a:t>
            </a:r>
            <a:pPr indent="0" marL="0">
              <a:buNone/>
            </a:pPr>
            <a:r>
              <a:rPr lang="en-US" sz="1400" dirty="0">
                <a:solidFill>
                  <a:srgbClr val="2F2F37"/>
                </a:solidFill>
              </a:rPr>
              <a:t> dentro do app. Senhas e chaves privadas ficam no servidor.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8125968" y="4114800"/>
            <a:ext cx="3514344" cy="2011680"/>
          </a:xfrm>
          <a:prstGeom prst="roundRect">
            <a:avLst>
              <a:gd name="adj" fmla="val 454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327136" y="431596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293" y="4429125"/>
            <a:ext cx="276606" cy="27660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994648" y="4279392"/>
            <a:ext cx="2462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24"/>
                </a:solidFill>
              </a:rPr>
              <a:t>Versionamento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8994648" y="4754880"/>
            <a:ext cx="2462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F37"/>
                </a:solidFill>
              </a:rPr>
              <a:t>Coloque </a:t>
            </a:r>
            <a:pPr indent="0" marL="0">
              <a:buNone/>
            </a:pPr>
            <a:r>
              <a:rPr lang="en-US" sz="14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pPr indent="0" marL="0">
              <a:buNone/>
            </a:pPr>
            <a:r>
              <a:rPr lang="en-US" sz="1400" dirty="0">
                <a:solidFill>
                  <a:srgbClr val="2F2F37"/>
                </a:solidFill>
              </a:rPr>
              <a:t> no </a:t>
            </a:r>
            <a:pPr indent="0" marL="0">
              <a:buNone/>
            </a:pPr>
            <a:r>
              <a:rPr lang="en-US" sz="14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pPr indent="0" marL="0">
              <a:buNone/>
            </a:pPr>
            <a:r>
              <a:rPr lang="en-US" sz="1400" dirty="0">
                <a:solidFill>
                  <a:srgbClr val="2F2F37"/>
                </a:solidFill>
              </a:rPr>
              <a:t>, crie um </a:t>
            </a:r>
            <a:pPr indent="0" marL="0">
              <a:buNone/>
            </a:pPr>
            <a:r>
              <a:rPr lang="en-US" sz="14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.env.example</a:t>
            </a:r>
            <a:pPr indent="0" marL="0">
              <a:buNone/>
            </a:pPr>
            <a:r>
              <a:rPr lang="en-US" sz="1400" dirty="0">
                <a:solidFill>
                  <a:srgbClr val="2F2F37"/>
                </a:solidFill>
              </a:rPr>
              <a:t> e reinicie o servidor após mudanças.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35</a:t>
            </a:r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Um serviço único para falar com a API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508760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170992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1823085"/>
            <a:ext cx="276606" cy="27660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1673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Camada de serviço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148840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As telas não conhecem URLs nem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: chamam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api.list(...)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115056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49808" y="3316224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5" y="3429381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3279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response.ok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417320" y="3755136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</a:t>
            </a:r>
            <a:pPr indent="0" marL="0">
              <a:buNone/>
            </a:pPr>
            <a:r>
              <a:rPr lang="en-US" sz="1350" b="1" dirty="0">
                <a:solidFill>
                  <a:srgbClr val="2F2F37"/>
                </a:solidFill>
              </a:rPr>
              <a:t>não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lança erro em 404/500: precisamos verificar.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4721352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49808" y="4922520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" y="5035677"/>
            <a:ext cx="276606" cy="27660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48859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JSON nos dois sentidos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417320" y="5361432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JSON.stringify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no envio,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response.json()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na resposta.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17720" y="1508760"/>
            <a:ext cx="7022592" cy="4617720"/>
          </a:xfrm>
          <a:prstGeom prst="roundRect">
            <a:avLst>
              <a:gd name="adj" fmla="val 2376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Text 17"/>
          <p:cNvSpPr txBox="1"/>
          <p:nvPr/>
        </p:nvSpPr>
        <p:spPr>
          <a:xfrm>
            <a:off x="4846320" y="160020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services/api.js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10954512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1119104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1283696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4846320" y="1965960"/>
            <a:ext cx="65653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BASE_URL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EXPO_PUBLIC_API_URL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 Faz uma requisição JSON e trata erros HTTP. */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`${BASE_URL}/${path}`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'Content-Type'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'application/json'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`Erro HTTP ${response.status}`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stringify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'POST'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`${resource}/${id}`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'PUT'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`${resource}/${id}`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'DELETE'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36</a:t>
            </a:r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Hook com carregamento e erro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0992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1823085"/>
            <a:ext cx="276606" cy="27660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673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Três estados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148840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isLoading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,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e os dados: toda tela com rede precisa dos três.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115056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" y="3316224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5" y="3429381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7320" y="3279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try / catch / finally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417320" y="3755136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desliga o carregamento com </a:t>
            </a:r>
            <a:pPr indent="0" marL="0">
              <a:buNone/>
            </a:pPr>
            <a:r>
              <a:rPr lang="en-US" sz="1350" b="1" dirty="0">
                <a:solidFill>
                  <a:srgbClr val="2F2F37"/>
                </a:solidFill>
              </a:rPr>
              <a:t>sucesso ou erro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4721352"/>
            <a:ext cx="3794760" cy="1405128"/>
          </a:xfrm>
          <a:prstGeom prst="roundRect">
            <a:avLst>
              <a:gd name="adj" fmla="val 6508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9808" y="4922520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" y="5035677"/>
            <a:ext cx="276606" cy="27660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48859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4"/>
                </a:solidFill>
              </a:rPr>
              <a:t>useCallback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417320" y="5361432"/>
            <a:ext cx="274320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Mantém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estável para o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e o “puxar para atualizar”.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4617720" y="1508760"/>
            <a:ext cx="7022592" cy="4617720"/>
          </a:xfrm>
          <a:prstGeom prst="roundRect">
            <a:avLst>
              <a:gd name="adj" fmla="val 2376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4846320" y="160020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hooks/useNotices.js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10954512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1119104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283696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846320" y="1965960"/>
            <a:ext cx="65653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useCallback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'react'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'../services/api'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 Busca avisos e controla carregamento e erro. */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useNotices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notices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setNotices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isLoading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setIsLoading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setError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useCallback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setIsLoading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setError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setNotices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'posts?_limit=10'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setError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setIsLoading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notices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isLoading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reload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37</a:t>
            </a:r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Os três estados de toda tela com dados remotos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65728" y="1489375"/>
            <a:ext cx="1768109" cy="3823472"/>
          </a:xfrm>
          <a:prstGeom prst="roundRect">
            <a:avLst>
              <a:gd name="adj" fmla="val 129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65728" y="1489375"/>
            <a:ext cx="1768109" cy="3823472"/>
          </a:xfrm>
          <a:prstGeom prst="rect">
            <a:avLst>
              <a:gd name="adj" fmla="val 2595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65728" y="1489375"/>
            <a:ext cx="1768109" cy="571666"/>
          </a:xfrm>
          <a:prstGeom prst="rect">
            <a:avLst>
              <a:gd name="adj" fmla="val 8027"/>
            </a:avLst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88092" y="1739837"/>
            <a:ext cx="1217474" cy="275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</a:t>
            </a:r>
            <a:endParaRPr lang="en-US" sz="1064" dirty="0"/>
          </a:p>
        </p:txBody>
      </p:sp>
      <p:sp>
        <p:nvSpPr>
          <p:cNvPr id="11" name="Shape 8"/>
          <p:cNvSpPr/>
          <p:nvPr/>
        </p:nvSpPr>
        <p:spPr>
          <a:xfrm>
            <a:off x="1065728" y="4777507"/>
            <a:ext cx="1768109" cy="535340"/>
          </a:xfrm>
          <a:prstGeom prst="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4EE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970" y="4838689"/>
            <a:ext cx="183545" cy="1835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65728" y="5029882"/>
            <a:ext cx="442027" cy="1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47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62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997" y="4838689"/>
            <a:ext cx="183545" cy="18354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7756" y="5029882"/>
            <a:ext cx="442027" cy="1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endParaRPr lang="en-US" sz="62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024" y="4838689"/>
            <a:ext cx="183545" cy="18354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949783" y="5029882"/>
            <a:ext cx="442027" cy="1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Bolso</a:t>
            </a:r>
            <a:endParaRPr lang="en-US" sz="62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1051" y="4838689"/>
            <a:ext cx="183545" cy="18354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391810" y="5029882"/>
            <a:ext cx="442027" cy="1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620" dirty="0"/>
          </a:p>
        </p:txBody>
      </p:sp>
      <p:sp>
        <p:nvSpPr>
          <p:cNvPr id="20" name="Shape 13"/>
          <p:cNvSpPr/>
          <p:nvPr/>
        </p:nvSpPr>
        <p:spPr>
          <a:xfrm>
            <a:off x="1682113" y="2941292"/>
            <a:ext cx="535340" cy="535340"/>
          </a:xfrm>
          <a:prstGeom prst="blockArc">
            <a:avLst>
              <a:gd name="adj1" fmla="val 0"/>
              <a:gd name="adj2" fmla="val 16200000"/>
              <a:gd name="adj3" fmla="val 8000"/>
            </a:avLst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1065728" y="3591348"/>
            <a:ext cx="1768109" cy="229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8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Carregando avisos...</a:t>
            </a:r>
            <a:endParaRPr lang="en-US" sz="798" dirty="0"/>
          </a:p>
        </p:txBody>
      </p:sp>
      <p:pic>
        <p:nvPicPr>
          <p:cNvPr id="22" name="Image 4" descr="Moldura de celul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371600"/>
            <a:ext cx="2780046" cy="420624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82880" y="5623560"/>
            <a:ext cx="35115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24"/>
                </a:solidFill>
              </a:rPr>
              <a:t>Carregando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0" y="5943600"/>
            <a:ext cx="3877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isLoading → &lt;ActivityIndicator /&gt;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5221542" y="1489375"/>
            <a:ext cx="1768109" cy="3823472"/>
          </a:xfrm>
          <a:prstGeom prst="roundRect">
            <a:avLst>
              <a:gd name="adj" fmla="val 129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5221542" y="1489375"/>
            <a:ext cx="1768109" cy="3823472"/>
          </a:xfrm>
          <a:prstGeom prst="rect">
            <a:avLst>
              <a:gd name="adj" fmla="val 2595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5221542" y="1489375"/>
            <a:ext cx="1768109" cy="571666"/>
          </a:xfrm>
          <a:prstGeom prst="rect">
            <a:avLst>
              <a:gd name="adj" fmla="val 8027"/>
            </a:avLst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5343905" y="1739837"/>
            <a:ext cx="1217474" cy="275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</a:t>
            </a:r>
            <a:endParaRPr lang="en-US" sz="1064" dirty="0"/>
          </a:p>
        </p:txBody>
      </p:sp>
      <p:sp>
        <p:nvSpPr>
          <p:cNvPr id="29" name="Shape 21"/>
          <p:cNvSpPr/>
          <p:nvPr/>
        </p:nvSpPr>
        <p:spPr>
          <a:xfrm>
            <a:off x="5221542" y="4777507"/>
            <a:ext cx="1768109" cy="535340"/>
          </a:xfrm>
          <a:prstGeom prst="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4EE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0783" y="4838689"/>
            <a:ext cx="183545" cy="18354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221542" y="5029882"/>
            <a:ext cx="442027" cy="1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47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62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2810" y="4838689"/>
            <a:ext cx="183545" cy="18354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663569" y="5029882"/>
            <a:ext cx="442027" cy="1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endParaRPr lang="en-US" sz="62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4837" y="4838689"/>
            <a:ext cx="183545" cy="183545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6105596" y="5029882"/>
            <a:ext cx="442027" cy="1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Bolso</a:t>
            </a:r>
            <a:endParaRPr lang="en-US" sz="62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6865" y="4838689"/>
            <a:ext cx="183545" cy="183545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6547623" y="5029882"/>
            <a:ext cx="442027" cy="1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62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7926" y="2711861"/>
            <a:ext cx="535340" cy="535340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5221542" y="3323678"/>
            <a:ext cx="1768109" cy="229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foi possível carregar</a:t>
            </a:r>
            <a:endParaRPr lang="en-US" sz="842" dirty="0"/>
          </a:p>
        </p:txBody>
      </p:sp>
      <p:sp>
        <p:nvSpPr>
          <p:cNvPr id="40" name="Text 27"/>
          <p:cNvSpPr txBox="1"/>
          <p:nvPr/>
        </p:nvSpPr>
        <p:spPr>
          <a:xfrm>
            <a:off x="5221542" y="3537814"/>
            <a:ext cx="1768109" cy="19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9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HTTP 500</a:t>
            </a:r>
            <a:endParaRPr lang="en-US" sz="709" dirty="0"/>
          </a:p>
        </p:txBody>
      </p:sp>
      <p:sp>
        <p:nvSpPr>
          <p:cNvPr id="41" name="Shape 28"/>
          <p:cNvSpPr/>
          <p:nvPr/>
        </p:nvSpPr>
        <p:spPr>
          <a:xfrm>
            <a:off x="5496859" y="3820779"/>
            <a:ext cx="1217474" cy="305908"/>
          </a:xfrm>
          <a:prstGeom prst="roundRect">
            <a:avLst>
              <a:gd name="adj" fmla="val 15000"/>
            </a:avLst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sp>
        <p:nvSpPr>
          <p:cNvPr id="42" name="Text 29"/>
          <p:cNvSpPr txBox="1"/>
          <p:nvPr/>
        </p:nvSpPr>
        <p:spPr>
          <a:xfrm>
            <a:off x="5496859" y="3820779"/>
            <a:ext cx="1217474" cy="305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NOVAMENTE</a:t>
            </a:r>
            <a:endParaRPr lang="en-US" sz="709" dirty="0"/>
          </a:p>
        </p:txBody>
      </p:sp>
      <p:pic>
        <p:nvPicPr>
          <p:cNvPr id="43" name="Image 10" descr="Moldura de celula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4453" y="1371600"/>
            <a:ext cx="2780046" cy="4206240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4338693" y="5623560"/>
            <a:ext cx="35115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24"/>
                </a:solidFill>
              </a:rPr>
              <a:t>Erro</a:t>
            </a:r>
            <a:endParaRPr lang="en-US" sz="1600" dirty="0"/>
          </a:p>
        </p:txBody>
      </p:sp>
      <p:sp>
        <p:nvSpPr>
          <p:cNvPr id="45" name="Text 31"/>
          <p:cNvSpPr txBox="1"/>
          <p:nvPr/>
        </p:nvSpPr>
        <p:spPr>
          <a:xfrm>
            <a:off x="4155813" y="5943600"/>
            <a:ext cx="3877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→ mensagem + botão</a:t>
            </a:r>
            <a:endParaRPr lang="en-US" sz="1150" dirty="0"/>
          </a:p>
        </p:txBody>
      </p:sp>
      <p:sp>
        <p:nvSpPr>
          <p:cNvPr id="46" name="Shape 32"/>
          <p:cNvSpPr/>
          <p:nvPr/>
        </p:nvSpPr>
        <p:spPr>
          <a:xfrm>
            <a:off x="9377355" y="1489375"/>
            <a:ext cx="1768109" cy="3823472"/>
          </a:xfrm>
          <a:prstGeom prst="roundRect">
            <a:avLst>
              <a:gd name="adj" fmla="val 129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33"/>
          <p:cNvSpPr/>
          <p:nvPr/>
        </p:nvSpPr>
        <p:spPr>
          <a:xfrm>
            <a:off x="9377355" y="1489375"/>
            <a:ext cx="1768109" cy="3823472"/>
          </a:xfrm>
          <a:prstGeom prst="rect">
            <a:avLst>
              <a:gd name="adj" fmla="val 2595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48" name="Shape 34"/>
          <p:cNvSpPr/>
          <p:nvPr/>
        </p:nvSpPr>
        <p:spPr>
          <a:xfrm>
            <a:off x="9377355" y="1489375"/>
            <a:ext cx="1768109" cy="571666"/>
          </a:xfrm>
          <a:prstGeom prst="rect">
            <a:avLst>
              <a:gd name="adj" fmla="val 8027"/>
            </a:avLst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sp>
        <p:nvSpPr>
          <p:cNvPr id="49" name="Text 35"/>
          <p:cNvSpPr txBox="1"/>
          <p:nvPr/>
        </p:nvSpPr>
        <p:spPr>
          <a:xfrm>
            <a:off x="9499718" y="1739837"/>
            <a:ext cx="1217474" cy="275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</a:t>
            </a:r>
            <a:endParaRPr lang="en-US" sz="1064" dirty="0"/>
          </a:p>
        </p:txBody>
      </p:sp>
      <p:sp>
        <p:nvSpPr>
          <p:cNvPr id="50" name="Shape 36"/>
          <p:cNvSpPr/>
          <p:nvPr/>
        </p:nvSpPr>
        <p:spPr>
          <a:xfrm>
            <a:off x="9377355" y="4777507"/>
            <a:ext cx="1768109" cy="535340"/>
          </a:xfrm>
          <a:prstGeom prst="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4EE"/>
            </a:solidFill>
            <a:prstDash val="solid"/>
          </a:ln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6596" y="4838689"/>
            <a:ext cx="183545" cy="183545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9377355" y="5029882"/>
            <a:ext cx="442027" cy="1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47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620" dirty="0"/>
          </a:p>
        </p:txBody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48623" y="4838689"/>
            <a:ext cx="183545" cy="183545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9819382" y="5029882"/>
            <a:ext cx="442027" cy="1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endParaRPr lang="en-US" sz="620" dirty="0"/>
          </a:p>
        </p:txBody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90650" y="4838689"/>
            <a:ext cx="183545" cy="183545"/>
          </a:xfrm>
          <a:prstGeom prst="rect">
            <a:avLst/>
          </a:prstGeom>
        </p:spPr>
      </p:pic>
      <p:sp>
        <p:nvSpPr>
          <p:cNvPr id="56" name="Text 39"/>
          <p:cNvSpPr txBox="1"/>
          <p:nvPr/>
        </p:nvSpPr>
        <p:spPr>
          <a:xfrm>
            <a:off x="10261409" y="5029882"/>
            <a:ext cx="442027" cy="1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Bolso</a:t>
            </a:r>
            <a:endParaRPr lang="en-US" sz="620" dirty="0"/>
          </a:p>
        </p:txBody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32678" y="4838689"/>
            <a:ext cx="183545" cy="183545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10703437" y="5029882"/>
            <a:ext cx="442027" cy="1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620" dirty="0"/>
          </a:p>
        </p:txBody>
      </p:sp>
      <p:sp>
        <p:nvSpPr>
          <p:cNvPr id="59" name="Shape 41"/>
          <p:cNvSpPr/>
          <p:nvPr/>
        </p:nvSpPr>
        <p:spPr>
          <a:xfrm>
            <a:off x="9499718" y="2175757"/>
            <a:ext cx="1523382" cy="55063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60" name="Text 42"/>
          <p:cNvSpPr txBox="1"/>
          <p:nvPr/>
        </p:nvSpPr>
        <p:spPr>
          <a:xfrm>
            <a:off x="9591491" y="2221643"/>
            <a:ext cx="1339837" cy="19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3" b="1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Acadêmica 2026</a:t>
            </a:r>
            <a:endParaRPr lang="en-US" sz="753" dirty="0"/>
          </a:p>
        </p:txBody>
      </p:sp>
      <p:sp>
        <p:nvSpPr>
          <p:cNvPr id="61" name="Text 43"/>
          <p:cNvSpPr txBox="1"/>
          <p:nvPr/>
        </p:nvSpPr>
        <p:spPr>
          <a:xfrm>
            <a:off x="9591491" y="2420483"/>
            <a:ext cx="1339837" cy="27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5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Inscrições abertas até sexta-feira.</a:t>
            </a:r>
            <a:endParaRPr lang="en-US" sz="665" dirty="0"/>
          </a:p>
        </p:txBody>
      </p:sp>
      <p:sp>
        <p:nvSpPr>
          <p:cNvPr id="62" name="Shape 44"/>
          <p:cNvSpPr/>
          <p:nvPr/>
        </p:nvSpPr>
        <p:spPr>
          <a:xfrm>
            <a:off x="9499718" y="2802869"/>
            <a:ext cx="1523382" cy="55063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63" name="Text 45"/>
          <p:cNvSpPr txBox="1"/>
          <p:nvPr/>
        </p:nvSpPr>
        <p:spPr>
          <a:xfrm>
            <a:off x="9591491" y="2848755"/>
            <a:ext cx="1339837" cy="19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3" b="1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Rematrícula</a:t>
            </a:r>
            <a:endParaRPr lang="en-US" sz="753" dirty="0"/>
          </a:p>
        </p:txBody>
      </p:sp>
      <p:sp>
        <p:nvSpPr>
          <p:cNvPr id="64" name="Text 46"/>
          <p:cNvSpPr txBox="1"/>
          <p:nvPr/>
        </p:nvSpPr>
        <p:spPr>
          <a:xfrm>
            <a:off x="9591491" y="3047595"/>
            <a:ext cx="1339837" cy="27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5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final para ajustes de disciplinas.</a:t>
            </a:r>
            <a:endParaRPr lang="en-US" sz="665" dirty="0"/>
          </a:p>
        </p:txBody>
      </p:sp>
      <p:sp>
        <p:nvSpPr>
          <p:cNvPr id="65" name="Shape 47"/>
          <p:cNvSpPr/>
          <p:nvPr/>
        </p:nvSpPr>
        <p:spPr>
          <a:xfrm>
            <a:off x="9499718" y="3429981"/>
            <a:ext cx="1523382" cy="55063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66" name="Text 48"/>
          <p:cNvSpPr txBox="1"/>
          <p:nvPr/>
        </p:nvSpPr>
        <p:spPr>
          <a:xfrm>
            <a:off x="9591491" y="3475867"/>
            <a:ext cx="1339837" cy="19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3" b="1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</a:t>
            </a:r>
            <a:endParaRPr lang="en-US" sz="753" dirty="0"/>
          </a:p>
        </p:txBody>
      </p:sp>
      <p:sp>
        <p:nvSpPr>
          <p:cNvPr id="67" name="Text 49"/>
          <p:cNvSpPr txBox="1"/>
          <p:nvPr/>
        </p:nvSpPr>
        <p:spPr>
          <a:xfrm>
            <a:off x="9591491" y="3674708"/>
            <a:ext cx="1339837" cy="27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5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horário: 7h às 22h de segunda a sábado.</a:t>
            </a:r>
            <a:endParaRPr lang="en-US" sz="665" dirty="0"/>
          </a:p>
        </p:txBody>
      </p:sp>
      <p:sp>
        <p:nvSpPr>
          <p:cNvPr id="68" name="Shape 50"/>
          <p:cNvSpPr/>
          <p:nvPr/>
        </p:nvSpPr>
        <p:spPr>
          <a:xfrm>
            <a:off x="9499718" y="4057093"/>
            <a:ext cx="1523382" cy="55063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69" name="Text 51"/>
          <p:cNvSpPr txBox="1"/>
          <p:nvPr/>
        </p:nvSpPr>
        <p:spPr>
          <a:xfrm>
            <a:off x="9591491" y="4102979"/>
            <a:ext cx="1339837" cy="19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3" b="1" dirty="0">
                <a:solidFill>
                  <a:srgbClr val="1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 de carreira</a:t>
            </a:r>
            <a:endParaRPr lang="en-US" sz="753" dirty="0"/>
          </a:p>
        </p:txBody>
      </p:sp>
      <p:sp>
        <p:nvSpPr>
          <p:cNvPr id="70" name="Text 52"/>
          <p:cNvSpPr txBox="1"/>
          <p:nvPr/>
        </p:nvSpPr>
        <p:spPr>
          <a:xfrm>
            <a:off x="9591491" y="4301820"/>
            <a:ext cx="1339837" cy="27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5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Auditório A, quinta-feira às 19h.</a:t>
            </a:r>
            <a:endParaRPr lang="en-US" sz="665" dirty="0"/>
          </a:p>
        </p:txBody>
      </p:sp>
      <p:pic>
        <p:nvPicPr>
          <p:cNvPr id="71" name="Image 15" descr="Moldura de celular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0266" y="1371600"/>
            <a:ext cx="2780046" cy="4206240"/>
          </a:xfrm>
          <a:prstGeom prst="rect">
            <a:avLst/>
          </a:prstGeom>
        </p:spPr>
      </p:pic>
      <p:sp>
        <p:nvSpPr>
          <p:cNvPr id="72" name="Text 53"/>
          <p:cNvSpPr txBox="1"/>
          <p:nvPr/>
        </p:nvSpPr>
        <p:spPr>
          <a:xfrm>
            <a:off x="8494506" y="5623560"/>
            <a:ext cx="35115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24"/>
                </a:solidFill>
              </a:rPr>
              <a:t>Sucesso</a:t>
            </a:r>
            <a:endParaRPr lang="en-US" sz="1600" dirty="0"/>
          </a:p>
        </p:txBody>
      </p:sp>
      <p:sp>
        <p:nvSpPr>
          <p:cNvPr id="73" name="Text 54"/>
          <p:cNvSpPr txBox="1"/>
          <p:nvPr/>
        </p:nvSpPr>
        <p:spPr>
          <a:xfrm>
            <a:off x="8311626" y="5943600"/>
            <a:ext cx="3877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notices → &lt;FlatList /&gt;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38</a:t>
            </a:r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A tela de avisos completa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5408676" cy="4617720"/>
          </a:xfrm>
          <a:prstGeom prst="roundRect">
            <a:avLst>
              <a:gd name="adj" fmla="val 2376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4311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app/(tabs)/index.js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71516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36108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00700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965960"/>
            <a:ext cx="495147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ActivityIndicator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FlatList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'react-native'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useNotices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'../../hooks/useNotices'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FadeIn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'../../components/FadeIn'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HomeScreen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notices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isLoading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reload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useNotices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isLoading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notices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&lt;ActivityIndicator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"large"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ã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foi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í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carregar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&lt;/Text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"Tentar novamente"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onPress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reload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&lt;/View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continua ao lado →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1636" y="1508760"/>
            <a:ext cx="5408676" cy="4617720"/>
          </a:xfrm>
          <a:prstGeom prst="roundRect">
            <a:avLst>
              <a:gd name="adj" fmla="val 2376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60236" y="1600200"/>
            <a:ext cx="4311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C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app/(tabs)/index.js (cont.)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54512" y="1691640"/>
            <a:ext cx="91440" cy="91440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19104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83696" y="1691640"/>
            <a:ext cx="91440" cy="91440"/>
          </a:xfrm>
          <a:prstGeom prst="ellipse">
            <a:avLst/>
          </a:prstGeom>
          <a:solidFill>
            <a:srgbClr val="5A5A66"/>
          </a:solidFill>
          <a:ln w="12700">
            <a:solidFill>
              <a:srgbClr val="5A5A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60236" y="1965960"/>
            <a:ext cx="495147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&lt;FlatList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notices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keyExtractor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renderItem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&lt;NoticeCard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isLoading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onRefresh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reload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ListEmptyComponent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Nenhum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aviso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&lt;/Text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 Cartão simples para um aviso. */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NoticeCard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&lt;FadeIn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&lt;/Text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numberOfLines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&lt;/Text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&lt;/View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&lt;/FadeIn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39</a:t>
            </a:r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Atividade 3: Mural de avisos do CampusGo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10817352" cy="457200"/>
          </a:xfrm>
          <a:prstGeom prst="roundRect">
            <a:avLst>
              <a:gd name="adj" fmla="val 16000"/>
            </a:avLst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453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146304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Objetivo: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 a aba Início lista avisos de uma API, com carregando, erro e sucesso.</a:t>
            </a:r>
            <a:endParaRPr lang="en-US" sz="14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743200"/>
                <a:gridCol w="4526280"/>
                <a:gridCol w="3364992"/>
              </a:tblGrid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conferir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.env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EXPO_PUBLIC_API_URL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 JSONPlaceholder e reinicie o Expo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 um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.env.example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com a mesma chave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services/api.js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request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lança erro quando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response.ok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é falso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errada cai no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hooks/useNotices.js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load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com try, catch e finally; o efeito chama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 abrir, o indicador aparece e some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app/(tabs)/index.js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Três retornos: carregando, erro com botão,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FlatList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avisos com título e texto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index.js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refreshing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onRefresh={reload}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Puxar a lista busca de novo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794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components/FadeIn.js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Envolva a lista ou o card com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757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&lt;FadeIn&gt;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conteúdo surge, em vez de aparecer seco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596128"/>
            <a:ext cx="10817352" cy="502920"/>
          </a:xfrm>
          <a:prstGeom prst="roundRect">
            <a:avLst>
              <a:gd name="adj" fmla="val 14545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96712"/>
            <a:ext cx="301752" cy="30175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5596128"/>
            <a:ext cx="10131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Bônus: </a:t>
            </a:r>
            <a:pPr indent="0" marL="0">
              <a:buNone/>
            </a:pPr>
            <a:r>
              <a:rPr lang="en-US" sz="135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api.create('posts', { title, body, userId: 1 })</a:t>
            </a:r>
            <a:pPr indent="0" marL="0">
              <a:buNone/>
            </a:pPr>
            <a:r>
              <a:rPr lang="en-US" sz="1350" dirty="0">
                <a:solidFill>
                  <a:srgbClr val="2F2F37"/>
                </a:solidFill>
              </a:rPr>
              <a:t> e mostre o id no Alert. A API responde, mas não grava.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40</a:t>
            </a:r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Conectando com o projeto final CampusGo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0817352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25877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 do projeto final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foi visto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7B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</a:rPr>
                        <a:t>Expo Router com abas, pilha e modal (M5)</a:t>
                      </a:r>
                      <a:endParaRPr lang="en-US" sz="14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757B8"/>
                          </a:solidFill>
                        </a:rPr>
                        <a:t>Aula 10</a:t>
                      </a:r>
                      <a:endParaRPr lang="en-US" sz="14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</a:rPr>
                        <a:t>Estado global com Context</a:t>
                      </a:r>
                      <a:endParaRPr lang="en-US" sz="14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757B8"/>
                          </a:solidFill>
                        </a:rPr>
                        <a:t>Aula 09 (despesas) + Aula 10 (tarefas)</a:t>
                      </a:r>
                      <a:endParaRPr lang="en-US" sz="14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</a:rPr>
                        <a:t>CRUD com validação, Modal e Alert (M2 a M4)</a:t>
                      </a:r>
                      <a:endParaRPr lang="en-US" sz="14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757B8"/>
                          </a:solidFill>
                        </a:rPr>
                        <a:t>Aula 09 (despesas) + Aula 10 (tarefas no modal)</a:t>
                      </a:r>
                      <a:endParaRPr lang="en-US" sz="14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</a:rPr>
                        <a:t>FlatList com estado vazio e busca com debounce (R6)</a:t>
                      </a:r>
                      <a:endParaRPr lang="en-US" sz="14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757B8"/>
                          </a:solidFill>
                        </a:rPr>
                        <a:t>Aula 09</a:t>
                      </a:r>
                      <a:endParaRPr lang="en-US" sz="14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</a:rPr>
                        <a:t>Tema claro/escuro (R5)</a:t>
                      </a:r>
                      <a:endParaRPr lang="en-US" sz="14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757B8"/>
                          </a:solidFill>
                        </a:rPr>
                        <a:t>Aula 09</a:t>
                      </a:r>
                      <a:endParaRPr lang="en-US" sz="14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</a:rPr>
                        <a:t>Câmera/galeria (R1), notificações (R2), compartilhar (R7)</a:t>
                      </a:r>
                      <a:endParaRPr lang="en-US" sz="14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757B8"/>
                          </a:solidFill>
                        </a:rPr>
                        <a:t>Aula 10</a:t>
                      </a:r>
                      <a:endParaRPr lang="en-US" sz="14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</a:rPr>
                        <a:t>Localização (R3) e animação de feedback (R8)</a:t>
                      </a:r>
                      <a:endParaRPr lang="en-US" sz="14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4757B8"/>
                          </a:solidFill>
                        </a:rPr>
                        <a:t>Aula 10</a:t>
                      </a:r>
                      <a:endParaRPr lang="en-US" sz="14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1E24"/>
                          </a:solidFill>
                        </a:rPr>
                        <a:t>Persistência em nuvem com Firestore em tempo real</a:t>
                      </a:r>
                      <a:endParaRPr lang="en-US" sz="14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31E24"/>
                          </a:solidFill>
                        </a:rPr>
                        <a:t>Próxima aula</a:t>
                      </a:r>
                      <a:endParaRPr lang="en-US" sz="14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41</a:t>
            </a:r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66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E1E24"/>
                </a:solidFill>
              </a:rPr>
              <a:t>Resumo da aula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36576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3337560" cy="2194560"/>
          </a:xfrm>
          <a:prstGeom prst="roundRect">
            <a:avLst>
              <a:gd name="adj" fmla="val 4167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0992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1823085"/>
            <a:ext cx="276606" cy="27660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673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24"/>
                </a:solidFill>
              </a:rPr>
              <a:t>Expo Router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14884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F37"/>
                </a:solidFill>
              </a:rPr>
              <a:t>Arquivos viram rotas; </a:t>
            </a:r>
            <a:pPr indent="0" marL="0">
              <a:buNone/>
            </a:pPr>
            <a:r>
              <a:rPr lang="en-US" sz="14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_layout.js</a:t>
            </a:r>
            <a:pPr indent="0" marL="0">
              <a:buNone/>
            </a:pPr>
            <a:r>
              <a:rPr lang="en-US" sz="1400" dirty="0">
                <a:solidFill>
                  <a:srgbClr val="2F2F37"/>
                </a:solidFill>
              </a:rPr>
              <a:t> define o navegador; </a:t>
            </a:r>
            <a:pPr indent="0" marL="0">
              <a:buNone/>
            </a:pPr>
            <a:r>
              <a:rPr lang="en-US" sz="14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[id]</a:t>
            </a:r>
            <a:pPr indent="0" marL="0">
              <a:buNone/>
            </a:pPr>
            <a:r>
              <a:rPr lang="en-US" sz="1400" dirty="0">
                <a:solidFill>
                  <a:srgbClr val="2F2F37"/>
                </a:solidFill>
              </a:rPr>
              <a:t> cria rotas dinâmicas.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60520" y="1508760"/>
            <a:ext cx="3337560" cy="2194560"/>
          </a:xfrm>
          <a:prstGeom prst="roundRect">
            <a:avLst>
              <a:gd name="adj" fmla="val 4167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61688" y="170992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845" y="1823085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029200" y="1673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24"/>
                </a:solidFill>
              </a:rPr>
              <a:t>Recursos nativos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029200" y="214884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F37"/>
                </a:solidFill>
              </a:rPr>
              <a:t>Permissão no momento do uso; câmera, localização, notificações e vibração.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931920"/>
            <a:ext cx="3337560" cy="2194560"/>
          </a:xfrm>
          <a:prstGeom prst="roundRect">
            <a:avLst>
              <a:gd name="adj" fmla="val 4167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9808" y="413308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" y="4246245"/>
            <a:ext cx="276606" cy="27660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40965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24"/>
                </a:solidFill>
              </a:rPr>
              <a:t>Animações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417320" y="45720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Animated</a:t>
            </a:r>
            <a:pPr indent="0" marL="0">
              <a:buNone/>
            </a:pPr>
            <a:r>
              <a:rPr lang="en-US" sz="1400" dirty="0">
                <a:solidFill>
                  <a:srgbClr val="2F2F37"/>
                </a:solidFill>
              </a:rPr>
              <a:t> para o básico; Reanimated para interações ricas.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160520" y="3931920"/>
            <a:ext cx="3337560" cy="2194560"/>
          </a:xfrm>
          <a:prstGeom prst="roundRect">
            <a:avLst>
              <a:gd name="adj" fmla="val 4167"/>
            </a:avLst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361688" y="4133088"/>
            <a:ext cx="502920" cy="502920"/>
          </a:xfrm>
          <a:prstGeom prst="ellipse">
            <a:avLst/>
          </a:prstGeom>
          <a:solidFill>
            <a:srgbClr val="4757B8"/>
          </a:solidFill>
          <a:ln w="12700">
            <a:solidFill>
              <a:srgbClr val="4757B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845" y="4246245"/>
            <a:ext cx="276606" cy="27660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029200" y="40965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24"/>
                </a:solidFill>
              </a:rPr>
              <a:t>API REST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5029200" y="45720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2F37"/>
                </a:solidFill>
              </a:rPr>
              <a:t>Serviço único, </a:t>
            </a:r>
            <a:pPr indent="0" marL="0">
              <a:buNone/>
            </a:pPr>
            <a:r>
              <a:rPr lang="en-US" sz="1400" dirty="0">
                <a:solidFill>
                  <a:srgbClr val="475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pPr indent="0" marL="0">
              <a:buNone/>
            </a:pPr>
            <a:r>
              <a:rPr lang="en-US" sz="1400" dirty="0">
                <a:solidFill>
                  <a:srgbClr val="2F2F37"/>
                </a:solidFill>
              </a:rPr>
              <a:t> sem segredos e os três estados da tela.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7818120" y="1508760"/>
            <a:ext cx="3822192" cy="4617720"/>
          </a:xfrm>
          <a:prstGeom prst="roundRect">
            <a:avLst>
              <a:gd name="adj" fmla="val 3589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8138160" y="1828800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ACE4"/>
                </a:solidFill>
              </a:rPr>
              <a:t>PRÓXIMA AULA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8138160" y="2240280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Banco de dados com Firebase Firestore</a:t>
            </a:r>
            <a:endParaRPr lang="en-US" sz="2400" dirty="0"/>
          </a:p>
        </p:txBody>
      </p:sp>
      <p:sp>
        <p:nvSpPr>
          <p:cNvPr id="29" name="Text 23"/>
          <p:cNvSpPr txBox="1"/>
          <p:nvPr/>
        </p:nvSpPr>
        <p:spPr>
          <a:xfrm>
            <a:off x="8138160" y="3383280"/>
            <a:ext cx="31821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BECF9"/>
                </a:solidFill>
              </a:rPr>
              <a:t>Configuração do projeto Firebase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BECF9"/>
                </a:solidFill>
              </a:rPr>
              <a:t>addDoc, getDocs, updateDoc e deleteDoc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BECF9"/>
                </a:solidFill>
              </a:rPr>
              <a:t>onSnapshot: dados em tempo real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BECF9"/>
                </a:solidFill>
              </a:rPr>
              <a:t>Contexto de autenticação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t>42</a:t>
            </a:r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148840"/>
            <a:ext cx="118872" cy="118872"/>
          </a:xfrm>
          <a:prstGeom prst="ellipse">
            <a:avLst/>
          </a:prstGeom>
          <a:solidFill>
            <a:srgbClr val="7983D7"/>
          </a:solidFill>
          <a:ln w="12700">
            <a:solidFill>
              <a:srgbClr val="7983D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" y="214884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71016" y="2148840"/>
            <a:ext cx="118872" cy="118872"/>
          </a:xfrm>
          <a:prstGeom prst="ellipse">
            <a:avLst/>
          </a:prstGeom>
          <a:solidFill>
            <a:srgbClr val="C9CBD6"/>
          </a:solidFill>
          <a:ln w="12700">
            <a:solidFill>
              <a:srgbClr val="C9CB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3774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</a:rPr>
              <a:t>Dúvidas?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6ACE4"/>
                </a:solidFill>
              </a:rPr>
              <a:t>Próxima aula: integrando o app ao banco de dados com Firebase Firestore.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38160" y="1417320"/>
            <a:ext cx="3291840" cy="3291840"/>
          </a:xfrm>
          <a:prstGeom prst="ellipse">
            <a:avLst/>
          </a:prstGeom>
          <a:solidFill>
            <a:srgbClr val="EBECF9"/>
          </a:solidFill>
          <a:ln w="12700">
            <a:solidFill>
              <a:srgbClr val="EBECF9"/>
            </a:solidFill>
            <a:prstDash val="solid"/>
          </a:ln>
        </p:spPr>
      </p:sp>
      <p:pic>
        <p:nvPicPr>
          <p:cNvPr id="8" name="Image 0" descr="C:\Users\Admin\AppData\Local\Temp\pdm_deck\assets\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2029968"/>
            <a:ext cx="210312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ESB PDM">
  <a:themeElements>
    <a:clrScheme name="IESB PDM">
      <a:dk1>
        <a:srgbClr val="1E1E24"/>
      </a:dk1>
      <a:lt1>
        <a:srgbClr val="FFFFFF"/>
      </a:lt1>
      <a:dk2>
        <a:srgbClr val="2F2F37"/>
      </a:dk2>
      <a:lt2>
        <a:srgbClr val="EBECF9"/>
      </a:lt2>
      <a:accent1>
        <a:srgbClr val="7983D7"/>
      </a:accent1>
      <a:accent2>
        <a:srgbClr val="4757B8"/>
      </a:accent2>
      <a:accent3>
        <a:srgbClr val="A6ACE4"/>
      </a:accent3>
      <a:accent4>
        <a:srgbClr val="E31E24"/>
      </a:accent4>
      <a:accent5>
        <a:srgbClr val="2E9E6B"/>
      </a:accent5>
      <a:accent6>
        <a:srgbClr val="E8A33D"/>
      </a:accent6>
      <a:hlink>
        <a:srgbClr val="4757B8"/>
      </a:hlink>
      <a:folHlink>
        <a:srgbClr val="7983D7"/>
      </a:folHlink>
    </a:clrScheme>
    <a:fontScheme name="IESB PDM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IESB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10: Expo Router e Recursos Nativos</dc:title>
  <dc:subject>Programação para Dispositivos Móveis</dc:subject>
  <dc:creator>Prof. Marcelo Alves Farias</dc:creator>
  <cp:lastModifiedBy>Prof. Marcelo Alves Farias</cp:lastModifiedBy>
  <cp:revision>1</cp:revision>
  <dcterms:created xsi:type="dcterms:W3CDTF">2026-10-21T19:19:48Z</dcterms:created>
  <dcterms:modified xsi:type="dcterms:W3CDTF">2026-10-21T19:19:48Z</dcterms:modified>
</cp:coreProperties>
</file>